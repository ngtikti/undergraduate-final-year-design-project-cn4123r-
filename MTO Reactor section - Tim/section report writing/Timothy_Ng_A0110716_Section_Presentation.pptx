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4"/>
  </p:notesMasterIdLst>
  <p:sldIdLst>
    <p:sldId id="256" r:id="rId2"/>
    <p:sldId id="257" r:id="rId3"/>
    <p:sldId id="277" r:id="rId4"/>
    <p:sldId id="258" r:id="rId5"/>
    <p:sldId id="259" r:id="rId6"/>
    <p:sldId id="260" r:id="rId7"/>
    <p:sldId id="261" r:id="rId8"/>
    <p:sldId id="262" r:id="rId9"/>
    <p:sldId id="263" r:id="rId10"/>
    <p:sldId id="265" r:id="rId11"/>
    <p:sldId id="266" r:id="rId12"/>
    <p:sldId id="267" r:id="rId13"/>
    <p:sldId id="269" r:id="rId14"/>
    <p:sldId id="270" r:id="rId15"/>
    <p:sldId id="271" r:id="rId16"/>
    <p:sldId id="274" r:id="rId17"/>
    <p:sldId id="273" r:id="rId18"/>
    <p:sldId id="276" r:id="rId19"/>
    <p:sldId id="275" r:id="rId20"/>
    <p:sldId id="272" r:id="rId21"/>
    <p:sldId id="278" r:id="rId22"/>
    <p:sldId id="26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36" autoAdjust="0"/>
  </p:normalViewPr>
  <p:slideViewPr>
    <p:cSldViewPr snapToGrid="0">
      <p:cViewPr varScale="1">
        <p:scale>
          <a:sx n="56" d="100"/>
          <a:sy n="56" d="100"/>
        </p:scale>
        <p:origin x="102"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925848-3419-45F5-A534-5ED6DCB0A8AA}" type="datetimeFigureOut">
              <a:rPr lang="en-SG" smtClean="0"/>
              <a:t>12/4/2017</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7A749-ADA0-4ED4-99B6-00ABE9D9B99B}" type="slidenum">
              <a:rPr lang="en-SG" smtClean="0"/>
              <a:t>‹#›</a:t>
            </a:fld>
            <a:endParaRPr lang="en-SG"/>
          </a:p>
        </p:txBody>
      </p:sp>
    </p:spTree>
    <p:extLst>
      <p:ext uri="{BB962C8B-B14F-4D97-AF65-F5344CB8AC3E}">
        <p14:creationId xmlns:p14="http://schemas.microsoft.com/office/powerpoint/2010/main" val="2578384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1</a:t>
            </a:fld>
            <a:endParaRPr lang="en-SG"/>
          </a:p>
        </p:txBody>
      </p:sp>
    </p:spTree>
    <p:extLst>
      <p:ext uri="{BB962C8B-B14F-4D97-AF65-F5344CB8AC3E}">
        <p14:creationId xmlns:p14="http://schemas.microsoft.com/office/powerpoint/2010/main" val="3345080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-Firstly, I will provide you with the overview of the complete process of our methanol to olefins plant, in particular the specifications</a:t>
            </a:r>
          </a:p>
          <a:p>
            <a:r>
              <a:rPr lang="en-SG" dirty="0"/>
              <a:t>-methodology used to find our process parameters as well as our design of our reactor unit</a:t>
            </a:r>
          </a:p>
          <a:p>
            <a:r>
              <a:rPr lang="en-SG" dirty="0"/>
              <a:t>-after which, we will then talk about the development of our reactor section process. Due to time constraint however, only the highlights of our reactor section will be discussed in this section</a:t>
            </a:r>
          </a:p>
        </p:txBody>
      </p:sp>
      <p:sp>
        <p:nvSpPr>
          <p:cNvPr id="4" name="Slide Number Placeholder 3"/>
          <p:cNvSpPr>
            <a:spLocks noGrp="1"/>
          </p:cNvSpPr>
          <p:nvPr>
            <p:ph type="sldNum" sz="quarter" idx="10"/>
          </p:nvPr>
        </p:nvSpPr>
        <p:spPr/>
        <p:txBody>
          <a:bodyPr/>
          <a:lstStyle/>
          <a:p>
            <a:fld id="{F087A749-ADA0-4ED4-99B6-00ABE9D9B99B}" type="slidenum">
              <a:rPr lang="en-SG" smtClean="0"/>
              <a:t>2</a:t>
            </a:fld>
            <a:endParaRPr lang="en-SG"/>
          </a:p>
        </p:txBody>
      </p:sp>
    </p:spTree>
    <p:extLst>
      <p:ext uri="{BB962C8B-B14F-4D97-AF65-F5344CB8AC3E}">
        <p14:creationId xmlns:p14="http://schemas.microsoft.com/office/powerpoint/2010/main" val="4128376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aim of the MTO plant is to attain </a:t>
            </a:r>
          </a:p>
          <a:p>
            <a:r>
              <a:rPr lang="en-SG" dirty="0"/>
              <a:t>-800 </a:t>
            </a:r>
            <a:r>
              <a:rPr lang="en-SG" dirty="0" err="1"/>
              <a:t>kt</a:t>
            </a:r>
            <a:r>
              <a:rPr lang="en-SG" dirty="0"/>
              <a:t>/a of light olefins. At least 99.9 </a:t>
            </a:r>
            <a:r>
              <a:rPr lang="en-SG" dirty="0" err="1"/>
              <a:t>wt</a:t>
            </a:r>
            <a:r>
              <a:rPr lang="en-SG" dirty="0"/>
              <a:t>% purity of ethylene and propylene of 94 </a:t>
            </a:r>
            <a:r>
              <a:rPr lang="en-SG" dirty="0" err="1"/>
              <a:t>wt</a:t>
            </a:r>
            <a:r>
              <a:rPr lang="en-SG" dirty="0"/>
              <a:t>% purity. The butylene out of the plant should be 99 </a:t>
            </a:r>
            <a:r>
              <a:rPr lang="en-SG" dirty="0" err="1"/>
              <a:t>wt</a:t>
            </a:r>
            <a:r>
              <a:rPr lang="en-SG" dirty="0"/>
              <a:t>% in purity, and the recovery should be high.</a:t>
            </a:r>
          </a:p>
          <a:p>
            <a:r>
              <a:rPr lang="en-SG" dirty="0"/>
              <a:t>-So the reactor section is basically responsible for producing enough products so that even after downstream processing there will still be enough olefins to meet our specifications</a:t>
            </a:r>
            <a:br>
              <a:rPr lang="en-SG" dirty="0"/>
            </a:br>
            <a:r>
              <a:rPr lang="en-SG" dirty="0"/>
              <a:t>-The configurations in the reactor section currently is slightly different to the one provided in the section report. For todays purposes however, I will be talking about the configurations made IN the section report, and provide some justifications for them</a:t>
            </a:r>
          </a:p>
        </p:txBody>
      </p:sp>
      <p:sp>
        <p:nvSpPr>
          <p:cNvPr id="4" name="Slide Number Placeholder 3"/>
          <p:cNvSpPr>
            <a:spLocks noGrp="1"/>
          </p:cNvSpPr>
          <p:nvPr>
            <p:ph type="sldNum" sz="quarter" idx="10"/>
          </p:nvPr>
        </p:nvSpPr>
        <p:spPr/>
        <p:txBody>
          <a:bodyPr/>
          <a:lstStyle/>
          <a:p>
            <a:fld id="{F087A749-ADA0-4ED4-99B6-00ABE9D9B99B}" type="slidenum">
              <a:rPr lang="en-SG" smtClean="0"/>
              <a:t>3</a:t>
            </a:fld>
            <a:endParaRPr lang="en-SG"/>
          </a:p>
        </p:txBody>
      </p:sp>
    </p:spTree>
    <p:extLst>
      <p:ext uri="{BB962C8B-B14F-4D97-AF65-F5344CB8AC3E}">
        <p14:creationId xmlns:p14="http://schemas.microsoft.com/office/powerpoint/2010/main" val="569983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t>-Methanol </a:t>
            </a:r>
            <a:r>
              <a:rPr lang="en-SG" dirty="0"/>
              <a:t>feed has 99.6 </a:t>
            </a:r>
            <a:r>
              <a:rPr lang="en-SG" dirty="0" err="1"/>
              <a:t>wt</a:t>
            </a:r>
            <a:r>
              <a:rPr lang="en-SG" dirty="0"/>
              <a:t>% methanol, and 0.4 </a:t>
            </a:r>
            <a:r>
              <a:rPr lang="en-SG" dirty="0" err="1"/>
              <a:t>wt</a:t>
            </a:r>
            <a:r>
              <a:rPr lang="en-SG" dirty="0"/>
              <a:t>% water as impurity</a:t>
            </a:r>
          </a:p>
          <a:p>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4</a:t>
            </a:fld>
            <a:endParaRPr lang="en-SG"/>
          </a:p>
        </p:txBody>
      </p:sp>
    </p:spTree>
    <p:extLst>
      <p:ext uri="{BB962C8B-B14F-4D97-AF65-F5344CB8AC3E}">
        <p14:creationId xmlns:p14="http://schemas.microsoft.com/office/powerpoint/2010/main" val="4086070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-modifications made as well, removal of equation 14 and changing of the k value of equation 15</a:t>
            </a:r>
          </a:p>
        </p:txBody>
      </p:sp>
      <p:sp>
        <p:nvSpPr>
          <p:cNvPr id="4" name="Slide Number Placeholder 3"/>
          <p:cNvSpPr>
            <a:spLocks noGrp="1"/>
          </p:cNvSpPr>
          <p:nvPr>
            <p:ph type="sldNum" sz="quarter" idx="10"/>
          </p:nvPr>
        </p:nvSpPr>
        <p:spPr/>
        <p:txBody>
          <a:bodyPr/>
          <a:lstStyle/>
          <a:p>
            <a:fld id="{F087A749-ADA0-4ED4-99B6-00ABE9D9B99B}" type="slidenum">
              <a:rPr lang="en-SG" smtClean="0"/>
              <a:t>6</a:t>
            </a:fld>
            <a:endParaRPr lang="en-SG"/>
          </a:p>
        </p:txBody>
      </p:sp>
    </p:spTree>
    <p:extLst>
      <p:ext uri="{BB962C8B-B14F-4D97-AF65-F5344CB8AC3E}">
        <p14:creationId xmlns:p14="http://schemas.microsoft.com/office/powerpoint/2010/main" val="2679993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Assumptions</a:t>
            </a:r>
          </a:p>
          <a:p>
            <a:pPr lvl="0"/>
            <a:r>
              <a:rPr lang="en-SG" sz="1200" kern="1200" dirty="0">
                <a:solidFill>
                  <a:schemeClr val="tx1"/>
                </a:solidFill>
                <a:effectLst/>
                <a:latin typeface="+mn-lt"/>
                <a:ea typeface="+mn-ea"/>
                <a:cs typeface="+mn-cs"/>
              </a:rPr>
              <a:t>1. Gas flows only in the axial direction, and dispersion in the radial direction is not considered</a:t>
            </a:r>
          </a:p>
          <a:p>
            <a:pPr lvl="0"/>
            <a:r>
              <a:rPr lang="en-SG" sz="1200" kern="1200" dirty="0">
                <a:solidFill>
                  <a:schemeClr val="tx1"/>
                </a:solidFill>
                <a:effectLst/>
                <a:latin typeface="+mn-lt"/>
                <a:ea typeface="+mn-ea"/>
                <a:cs typeface="+mn-cs"/>
              </a:rPr>
              <a:t>2. No catalyst present in the bubble phase</a:t>
            </a:r>
          </a:p>
          <a:p>
            <a:pPr lvl="0"/>
            <a:r>
              <a:rPr lang="en-SG" sz="1200" kern="1200" dirty="0">
                <a:solidFill>
                  <a:schemeClr val="tx1"/>
                </a:solidFill>
                <a:effectLst/>
                <a:latin typeface="+mn-lt"/>
                <a:ea typeface="+mn-ea"/>
                <a:cs typeface="+mn-cs"/>
              </a:rPr>
              <a:t>3. Activity of the catalyst is considered constant</a:t>
            </a:r>
          </a:p>
          <a:p>
            <a:pPr lvl="0"/>
            <a:r>
              <a:rPr lang="en-SG" sz="1200" kern="1200" dirty="0">
                <a:solidFill>
                  <a:schemeClr val="tx1"/>
                </a:solidFill>
                <a:effectLst/>
                <a:latin typeface="+mn-lt"/>
                <a:ea typeface="+mn-ea"/>
                <a:cs typeface="+mn-cs"/>
              </a:rPr>
              <a:t>Additional assumptions</a:t>
            </a:r>
          </a:p>
          <a:p>
            <a:pPr lvl="0"/>
            <a:r>
              <a:rPr lang="en-SG" sz="1200" kern="1200" dirty="0">
                <a:solidFill>
                  <a:schemeClr val="tx1"/>
                </a:solidFill>
                <a:effectLst/>
                <a:latin typeface="+mn-lt"/>
                <a:ea typeface="+mn-ea"/>
                <a:cs typeface="+mn-cs"/>
              </a:rPr>
              <a:t>1. Reactor is isothermal.</a:t>
            </a:r>
          </a:p>
          <a:p>
            <a:pPr lvl="0"/>
            <a:r>
              <a:rPr lang="en-SG" sz="1200" kern="1200" dirty="0">
                <a:solidFill>
                  <a:schemeClr val="tx1"/>
                </a:solidFill>
                <a:effectLst/>
                <a:latin typeface="+mn-lt"/>
                <a:ea typeface="+mn-ea"/>
                <a:cs typeface="+mn-cs"/>
              </a:rPr>
              <a:t>2. Reactor is isobaric, assuming pressure drop across the bed is significantly lower than the reactor pressure.</a:t>
            </a:r>
          </a:p>
          <a:p>
            <a:pPr lvl="0"/>
            <a:r>
              <a:rPr lang="en-SG" sz="1200" kern="1200" dirty="0">
                <a:solidFill>
                  <a:schemeClr val="tx1"/>
                </a:solidFill>
                <a:effectLst/>
                <a:latin typeface="+mn-lt"/>
                <a:ea typeface="+mn-ea"/>
                <a:cs typeface="+mn-cs"/>
              </a:rPr>
              <a:t>3. The gas is assumed to be of ideal behaviour. This is to allow the usage of ideal gas correlations in our simulation.</a:t>
            </a:r>
          </a:p>
          <a:p>
            <a:pPr lvl="0"/>
            <a:r>
              <a:rPr lang="en-SG" sz="1200" kern="1200" dirty="0">
                <a:solidFill>
                  <a:schemeClr val="tx1"/>
                </a:solidFill>
                <a:effectLst/>
                <a:latin typeface="+mn-lt"/>
                <a:ea typeface="+mn-ea"/>
                <a:cs typeface="+mn-cs"/>
              </a:rPr>
              <a:t>4. No internal mass transfer within the catalyst, mass transfer only occurs between bubble and emulsion phase.</a:t>
            </a:r>
          </a:p>
          <a:p>
            <a:pPr lvl="0"/>
            <a:r>
              <a:rPr lang="en-SG" sz="1200" kern="1200" dirty="0">
                <a:solidFill>
                  <a:schemeClr val="tx1"/>
                </a:solidFill>
                <a:effectLst/>
                <a:latin typeface="+mn-lt"/>
                <a:ea typeface="+mn-ea"/>
                <a:cs typeface="+mn-cs"/>
              </a:rPr>
              <a:t>5. No deactivation of catalyst.</a:t>
            </a:r>
          </a:p>
          <a:p>
            <a:pPr lvl="0"/>
            <a:r>
              <a:rPr lang="en-SG" sz="1200" kern="1200" dirty="0">
                <a:solidFill>
                  <a:schemeClr val="tx1"/>
                </a:solidFill>
                <a:effectLst/>
                <a:latin typeface="+mn-lt"/>
                <a:ea typeface="+mn-ea"/>
                <a:cs typeface="+mn-cs"/>
              </a:rPr>
              <a:t>6. Catalyst particles are suspended and there are no overall upward or downward flow with the exception of entrained particles arising from bursting bubbles.</a:t>
            </a:r>
          </a:p>
          <a:p>
            <a:pPr lvl="0"/>
            <a:endParaRPr lang="en-SG" sz="1200" kern="1200" dirty="0">
              <a:solidFill>
                <a:schemeClr val="tx1"/>
              </a:solidFill>
              <a:effectLst/>
              <a:latin typeface="+mn-lt"/>
              <a:ea typeface="+mn-ea"/>
              <a:cs typeface="+mn-cs"/>
            </a:endParaRPr>
          </a:p>
          <a:p>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8</a:t>
            </a:fld>
            <a:endParaRPr lang="en-SG"/>
          </a:p>
        </p:txBody>
      </p:sp>
    </p:spTree>
    <p:extLst>
      <p:ext uri="{BB962C8B-B14F-4D97-AF65-F5344CB8AC3E}">
        <p14:creationId xmlns:p14="http://schemas.microsoft.com/office/powerpoint/2010/main" val="1442949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-In order to produce our light olefins, we have decided to utilize a fluidized bed reactor</a:t>
            </a:r>
          </a:p>
          <a:p>
            <a:r>
              <a:rPr lang="en-SG" dirty="0"/>
              <a:t>-We have decided to use kinetics from </a:t>
            </a:r>
            <a:r>
              <a:rPr lang="en-SG" dirty="0" err="1"/>
              <a:t>Kaarsholm</a:t>
            </a:r>
            <a:r>
              <a:rPr lang="en-SG" dirty="0"/>
              <a:t> et al, and utilize ZSM-5 for the catalyst of choice for our fluidized bed reactor</a:t>
            </a:r>
          </a:p>
          <a:p>
            <a:r>
              <a:rPr lang="en-SG" dirty="0"/>
              <a:t>-We wrote a code using the design equations to simulate the fluidized bed reactor, and this is the methodology</a:t>
            </a:r>
          </a:p>
        </p:txBody>
      </p:sp>
      <p:sp>
        <p:nvSpPr>
          <p:cNvPr id="4" name="Slide Number Placeholder 3"/>
          <p:cNvSpPr>
            <a:spLocks noGrp="1"/>
          </p:cNvSpPr>
          <p:nvPr>
            <p:ph type="sldNum" sz="quarter" idx="10"/>
          </p:nvPr>
        </p:nvSpPr>
        <p:spPr/>
        <p:txBody>
          <a:bodyPr/>
          <a:lstStyle/>
          <a:p>
            <a:fld id="{F087A749-ADA0-4ED4-99B6-00ABE9D9B99B}" type="slidenum">
              <a:rPr lang="en-SG" smtClean="0"/>
              <a:t>9</a:t>
            </a:fld>
            <a:endParaRPr lang="en-SG"/>
          </a:p>
        </p:txBody>
      </p:sp>
    </p:spTree>
    <p:extLst>
      <p:ext uri="{BB962C8B-B14F-4D97-AF65-F5344CB8AC3E}">
        <p14:creationId xmlns:p14="http://schemas.microsoft.com/office/powerpoint/2010/main" val="2570284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-In the selection of our process </a:t>
            </a:r>
            <a:r>
              <a:rPr lang="en-SG" dirty="0" err="1"/>
              <a:t>paramters</a:t>
            </a:r>
            <a:r>
              <a:rPr lang="en-SG" dirty="0"/>
              <a:t> for our reactor, they should allow us to obtain more than 880. The extra 80 is to account for possible losses downstream</a:t>
            </a:r>
          </a:p>
          <a:p>
            <a:r>
              <a:rPr lang="en-SG" dirty="0"/>
              <a:t>-The process parameters should maximize profit margin of the section, and optimization is done so to ensure that. Optimization will be performed using 3 parameters, namely…..</a:t>
            </a:r>
          </a:p>
          <a:p>
            <a:r>
              <a:rPr lang="en-SG" dirty="0"/>
              <a:t>-Other parameters that we will be looking at include…, but these are interrelated to the optimized parameters and as such only 3 parameters will be looked at for optimization</a:t>
            </a:r>
          </a:p>
        </p:txBody>
      </p:sp>
      <p:sp>
        <p:nvSpPr>
          <p:cNvPr id="4" name="Slide Number Placeholder 3"/>
          <p:cNvSpPr>
            <a:spLocks noGrp="1"/>
          </p:cNvSpPr>
          <p:nvPr>
            <p:ph type="sldNum" sz="quarter" idx="10"/>
          </p:nvPr>
        </p:nvSpPr>
        <p:spPr/>
        <p:txBody>
          <a:bodyPr/>
          <a:lstStyle/>
          <a:p>
            <a:fld id="{F087A749-ADA0-4ED4-99B6-00ABE9D9B99B}" type="slidenum">
              <a:rPr lang="en-SG" smtClean="0"/>
              <a:t>10</a:t>
            </a:fld>
            <a:endParaRPr lang="en-SG"/>
          </a:p>
        </p:txBody>
      </p:sp>
    </p:spTree>
    <p:extLst>
      <p:ext uri="{BB962C8B-B14F-4D97-AF65-F5344CB8AC3E}">
        <p14:creationId xmlns:p14="http://schemas.microsoft.com/office/powerpoint/2010/main" val="1807855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11</a:t>
            </a:fld>
            <a:endParaRPr lang="en-SG"/>
          </a:p>
        </p:txBody>
      </p:sp>
    </p:spTree>
    <p:extLst>
      <p:ext uri="{BB962C8B-B14F-4D97-AF65-F5344CB8AC3E}">
        <p14:creationId xmlns:p14="http://schemas.microsoft.com/office/powerpoint/2010/main" val="2350271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8.5 times is to ensure adequate turndown and prevent excessive entrainment of catalyst</a:t>
            </a:r>
          </a:p>
        </p:txBody>
      </p:sp>
      <p:sp>
        <p:nvSpPr>
          <p:cNvPr id="4" name="Slide Number Placeholder 3"/>
          <p:cNvSpPr>
            <a:spLocks noGrp="1"/>
          </p:cNvSpPr>
          <p:nvPr>
            <p:ph type="sldNum" sz="quarter" idx="10"/>
          </p:nvPr>
        </p:nvSpPr>
        <p:spPr/>
        <p:txBody>
          <a:bodyPr/>
          <a:lstStyle/>
          <a:p>
            <a:fld id="{F087A749-ADA0-4ED4-99B6-00ABE9D9B99B}" type="slidenum">
              <a:rPr lang="en-SG" smtClean="0"/>
              <a:t>12</a:t>
            </a:fld>
            <a:endParaRPr lang="en-SG"/>
          </a:p>
        </p:txBody>
      </p:sp>
    </p:spTree>
    <p:extLst>
      <p:ext uri="{BB962C8B-B14F-4D97-AF65-F5344CB8AC3E}">
        <p14:creationId xmlns:p14="http://schemas.microsoft.com/office/powerpoint/2010/main" val="2484645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These are the parameters obtained. Using these parameters, the profit is maximized while maintaining a plant capacity of at least 880 </a:t>
            </a:r>
            <a:r>
              <a:rPr lang="en-SG" dirty="0" err="1"/>
              <a:t>kt</a:t>
            </a:r>
            <a:r>
              <a:rPr lang="en-SG" dirty="0"/>
              <a:t>/a.</a:t>
            </a:r>
          </a:p>
          <a:p>
            <a:r>
              <a:rPr lang="en-SG" dirty="0"/>
              <a:t>TDH = 1.074m</a:t>
            </a:r>
          </a:p>
          <a:p>
            <a:r>
              <a:rPr lang="en-SG" dirty="0"/>
              <a:t>Methanol feed rate ensure that 880 </a:t>
            </a:r>
            <a:r>
              <a:rPr lang="en-SG" dirty="0" err="1"/>
              <a:t>kt</a:t>
            </a:r>
            <a:r>
              <a:rPr lang="en-SG" dirty="0"/>
              <a:t>/a was produced</a:t>
            </a:r>
          </a:p>
        </p:txBody>
      </p:sp>
      <p:sp>
        <p:nvSpPr>
          <p:cNvPr id="4" name="Slide Number Placeholder 3"/>
          <p:cNvSpPr>
            <a:spLocks noGrp="1"/>
          </p:cNvSpPr>
          <p:nvPr>
            <p:ph type="sldNum" sz="quarter" idx="10"/>
          </p:nvPr>
        </p:nvSpPr>
        <p:spPr/>
        <p:txBody>
          <a:bodyPr/>
          <a:lstStyle/>
          <a:p>
            <a:fld id="{F087A749-ADA0-4ED4-99B6-00ABE9D9B99B}" type="slidenum">
              <a:rPr lang="en-SG" smtClean="0"/>
              <a:t>13</a:t>
            </a:fld>
            <a:endParaRPr lang="en-SG"/>
          </a:p>
        </p:txBody>
      </p:sp>
    </p:spTree>
    <p:extLst>
      <p:ext uri="{BB962C8B-B14F-4D97-AF65-F5344CB8AC3E}">
        <p14:creationId xmlns:p14="http://schemas.microsoft.com/office/powerpoint/2010/main" val="2886334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-Due to time constraint I will be only talking about the highlights</a:t>
            </a:r>
          </a:p>
        </p:txBody>
      </p:sp>
      <p:sp>
        <p:nvSpPr>
          <p:cNvPr id="4" name="Slide Number Placeholder 3"/>
          <p:cNvSpPr>
            <a:spLocks noGrp="1"/>
          </p:cNvSpPr>
          <p:nvPr>
            <p:ph type="sldNum" sz="quarter" idx="10"/>
          </p:nvPr>
        </p:nvSpPr>
        <p:spPr/>
        <p:txBody>
          <a:bodyPr/>
          <a:lstStyle/>
          <a:p>
            <a:fld id="{F087A749-ADA0-4ED4-99B6-00ABE9D9B99B}" type="slidenum">
              <a:rPr lang="en-SG" smtClean="0"/>
              <a:t>14</a:t>
            </a:fld>
            <a:endParaRPr lang="en-SG"/>
          </a:p>
        </p:txBody>
      </p:sp>
    </p:spTree>
    <p:extLst>
      <p:ext uri="{BB962C8B-B14F-4D97-AF65-F5344CB8AC3E}">
        <p14:creationId xmlns:p14="http://schemas.microsoft.com/office/powerpoint/2010/main" val="1374314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a:solidFill>
                  <a:schemeClr val="tx1"/>
                </a:solidFill>
                <a:effectLst/>
                <a:latin typeface="+mn-lt"/>
                <a:ea typeface="+mn-ea"/>
                <a:cs typeface="+mn-cs"/>
              </a:rPr>
              <a:t>-One of our highlights is the utilization of recycle configuration. This is because originally our methanol conversion was found to be rather low, at 85.2% methanol conversion. After </a:t>
            </a:r>
            <a:r>
              <a:rPr lang="en-SG" sz="1200" kern="1200" dirty="0" err="1">
                <a:solidFill>
                  <a:schemeClr val="tx1"/>
                </a:solidFill>
                <a:effectLst/>
                <a:latin typeface="+mn-lt"/>
                <a:ea typeface="+mn-ea"/>
                <a:cs typeface="+mn-cs"/>
              </a:rPr>
              <a:t>after</a:t>
            </a:r>
            <a:r>
              <a:rPr lang="en-SG" sz="1200" kern="1200" dirty="0">
                <a:solidFill>
                  <a:schemeClr val="tx1"/>
                </a:solidFill>
                <a:effectLst/>
                <a:latin typeface="+mn-lt"/>
                <a:ea typeface="+mn-ea"/>
                <a:cs typeface="+mn-cs"/>
              </a:rPr>
              <a:t> the recycle was introduced, it increased to 98.2% plant capacity.</a:t>
            </a:r>
          </a:p>
          <a:p>
            <a:r>
              <a:rPr lang="en-SG" sz="1200" kern="1200" dirty="0">
                <a:solidFill>
                  <a:schemeClr val="tx1"/>
                </a:solidFill>
                <a:effectLst/>
                <a:latin typeface="+mn-lt"/>
                <a:ea typeface="+mn-ea"/>
                <a:cs typeface="+mn-cs"/>
              </a:rPr>
              <a:t>-As such, this decreases the amount of methanol feed required to hit our specifications of 880kt/a , and reduces the amount of methanol wasted. Thus, saving raw material costs.</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-Realistically, the series of separation processes required for this to occur would incur much cost and design considerations. However, for the sake of simplification, the costing and design of these separation processes were assumed to be negligible as briefed during the leaders meeting.</a:t>
            </a:r>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15</a:t>
            </a:fld>
            <a:endParaRPr lang="en-SG"/>
          </a:p>
        </p:txBody>
      </p:sp>
    </p:spTree>
    <p:extLst>
      <p:ext uri="{BB962C8B-B14F-4D97-AF65-F5344CB8AC3E}">
        <p14:creationId xmlns:p14="http://schemas.microsoft.com/office/powerpoint/2010/main" val="1493084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-Another highlight is the method in which we decide to regenerate our catalyst.</a:t>
            </a:r>
          </a:p>
          <a:p>
            <a:r>
              <a:rPr lang="en-SG" dirty="0"/>
              <a:t>-In order to regenerate the catalyst, we have decided to use hydrogen treating, which proposed by </a:t>
            </a:r>
            <a:r>
              <a:rPr lang="en-SG" dirty="0" err="1"/>
              <a:t>forbus</a:t>
            </a:r>
            <a:r>
              <a:rPr lang="en-SG" dirty="0"/>
              <a:t> In a patent published in 1988.</a:t>
            </a:r>
          </a:p>
          <a:p>
            <a:r>
              <a:rPr lang="en-SG" sz="1200" kern="1200" dirty="0">
                <a:solidFill>
                  <a:schemeClr val="tx1"/>
                </a:solidFill>
                <a:effectLst/>
                <a:latin typeface="+mn-lt"/>
                <a:ea typeface="+mn-ea"/>
                <a:cs typeface="+mn-cs"/>
              </a:rPr>
              <a:t>-Through this method, it is possible to regenerate zeolite catalysts, such as ZSM-5, in situ, while the reactions are happening. As such, this reduces capital cost in designing and constructing a regeneration system. </a:t>
            </a:r>
          </a:p>
          <a:p>
            <a:r>
              <a:rPr lang="en-SG" sz="1200" kern="1200" dirty="0">
                <a:solidFill>
                  <a:schemeClr val="tx1"/>
                </a:solidFill>
                <a:effectLst/>
                <a:latin typeface="+mn-lt"/>
                <a:ea typeface="+mn-ea"/>
                <a:cs typeface="+mn-cs"/>
              </a:rPr>
              <a:t>-In addition, this method can provide a longer lifespan of catalyst compared to traditional method of burning of coke in air in a separate regenerator, and as such reduce the amount of catalyst that needs to be replaced.</a:t>
            </a: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-A point to note is that in order to continuously regenerate the catalyst, sometimes pressure would need to be increased to 35 atm.  </a:t>
            </a:r>
          </a:p>
          <a:p>
            <a:r>
              <a:rPr lang="en-SG" sz="1200" kern="1200" dirty="0">
                <a:solidFill>
                  <a:schemeClr val="tx1"/>
                </a:solidFill>
                <a:effectLst/>
                <a:latin typeface="+mn-lt"/>
                <a:ea typeface="+mn-ea"/>
                <a:cs typeface="+mn-cs"/>
              </a:rPr>
              <a:t>-It was recommended by </a:t>
            </a:r>
            <a:r>
              <a:rPr lang="en-SG" sz="1200" kern="1200" dirty="0" err="1">
                <a:solidFill>
                  <a:schemeClr val="tx1"/>
                </a:solidFill>
                <a:effectLst/>
                <a:latin typeface="+mn-lt"/>
                <a:ea typeface="+mn-ea"/>
                <a:cs typeface="+mn-cs"/>
              </a:rPr>
              <a:t>Forbus</a:t>
            </a:r>
            <a:r>
              <a:rPr lang="en-SG" sz="1200" kern="1200" dirty="0">
                <a:solidFill>
                  <a:schemeClr val="tx1"/>
                </a:solidFill>
                <a:effectLst/>
                <a:latin typeface="+mn-lt"/>
                <a:ea typeface="+mn-ea"/>
                <a:cs typeface="+mn-cs"/>
              </a:rPr>
              <a:t> et al, that the molar ratio of hydrogen to organic reactants be 0.5:1 to 40:1. We have decided to use a conservative estimate of 0.5:1 molar ratio for now to prevent too much deviation from our optimized parameters and design due to the increased inlet volumetric flow rate.</a:t>
            </a: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r>
              <a:rPr lang="en-SG" sz="1200" kern="1200" dirty="0">
                <a:solidFill>
                  <a:schemeClr val="tx1"/>
                </a:solidFill>
                <a:effectLst/>
                <a:latin typeface="+mn-lt"/>
                <a:ea typeface="+mn-ea"/>
                <a:cs typeface="+mn-cs"/>
              </a:rPr>
              <a:t>-However in our final report, we have reverted back to the usage of a conventional regenerator, as the cost of hydrogen per annum was found to severely outweigh the savings of a regenerator and replacing catalysts. In addition, the introduction of hydrogen gas can lead to a potential hazard, and with the mixing with methanol and water might incur additional hazard and risk of explosion.</a:t>
            </a:r>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16</a:t>
            </a:fld>
            <a:endParaRPr lang="en-SG"/>
          </a:p>
        </p:txBody>
      </p:sp>
    </p:spTree>
    <p:extLst>
      <p:ext uri="{BB962C8B-B14F-4D97-AF65-F5344CB8AC3E}">
        <p14:creationId xmlns:p14="http://schemas.microsoft.com/office/powerpoint/2010/main" val="3804138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Since methanol and water can be corrosive, stainless steel will be strong enough to withstand the high temperature of 550oC</a:t>
            </a:r>
          </a:p>
          <a:p>
            <a:r>
              <a:rPr lang="en-SG" dirty="0"/>
              <a:t>Thickness was calculated using </a:t>
            </a:r>
            <a:r>
              <a:rPr lang="en-SG" sz="1200" kern="1200" dirty="0">
                <a:solidFill>
                  <a:schemeClr val="tx1"/>
                </a:solidFill>
                <a:effectLst/>
                <a:latin typeface="+mn-lt"/>
                <a:ea typeface="+mn-ea"/>
                <a:cs typeface="+mn-cs"/>
              </a:rPr>
              <a:t>Section VIII of the ASME Boiler and Pressure Vessel Code, the minimum thickness required for a cylindrical vessel wall to resist the internal pressure. The design pressure P</a:t>
            </a:r>
            <a:r>
              <a:rPr lang="en-SG" sz="1200" kern="1200" baseline="-25000" dirty="0">
                <a:solidFill>
                  <a:schemeClr val="tx1"/>
                </a:solidFill>
                <a:effectLst/>
                <a:latin typeface="+mn-lt"/>
                <a:ea typeface="+mn-ea"/>
                <a:cs typeface="+mn-cs"/>
              </a:rPr>
              <a:t>i</a:t>
            </a:r>
            <a:r>
              <a:rPr lang="en-SG" sz="1200" kern="1200" dirty="0">
                <a:solidFill>
                  <a:schemeClr val="tx1"/>
                </a:solidFill>
                <a:effectLst/>
                <a:latin typeface="+mn-lt"/>
                <a:ea typeface="+mn-ea"/>
                <a:cs typeface="+mn-cs"/>
              </a:rPr>
              <a:t> was taken to be 10% above our normal operating pressure of 30-35 </a:t>
            </a:r>
            <a:r>
              <a:rPr lang="en-SG" sz="1200" kern="1200" dirty="0" err="1">
                <a:solidFill>
                  <a:schemeClr val="tx1"/>
                </a:solidFill>
                <a:effectLst/>
                <a:latin typeface="+mn-lt"/>
                <a:ea typeface="+mn-ea"/>
                <a:cs typeface="+mn-cs"/>
              </a:rPr>
              <a:t>atm</a:t>
            </a:r>
            <a:r>
              <a:rPr lang="en-SG" sz="1200" kern="1200" dirty="0">
                <a:solidFill>
                  <a:schemeClr val="tx1"/>
                </a:solidFill>
                <a:effectLst/>
                <a:latin typeface="+mn-lt"/>
                <a:ea typeface="+mn-ea"/>
                <a:cs typeface="+mn-cs"/>
              </a:rPr>
              <a:t>, and as such was chosen to be </a:t>
            </a:r>
            <a:r>
              <a:rPr lang="en-SG" sz="1200" b="1" kern="1200" dirty="0">
                <a:solidFill>
                  <a:schemeClr val="tx1"/>
                </a:solidFill>
                <a:effectLst/>
                <a:latin typeface="+mn-lt"/>
                <a:ea typeface="+mn-ea"/>
                <a:cs typeface="+mn-cs"/>
              </a:rPr>
              <a:t>38 atm</a:t>
            </a:r>
            <a:r>
              <a:rPr lang="en-SG" sz="1200" kern="1200" dirty="0">
                <a:solidFill>
                  <a:schemeClr val="tx1"/>
                </a:solidFill>
                <a:effectLst/>
                <a:latin typeface="+mn-lt"/>
                <a:ea typeface="+mn-ea"/>
                <a:cs typeface="+mn-cs"/>
              </a:rPr>
              <a:t>.  Factoring in 4mm for corrosion allowance, 23.2cm</a:t>
            </a:r>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17</a:t>
            </a:fld>
            <a:endParaRPr lang="en-SG"/>
          </a:p>
        </p:txBody>
      </p:sp>
    </p:spTree>
    <p:extLst>
      <p:ext uri="{BB962C8B-B14F-4D97-AF65-F5344CB8AC3E}">
        <p14:creationId xmlns:p14="http://schemas.microsoft.com/office/powerpoint/2010/main" val="2380029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087A749-ADA0-4ED4-99B6-00ABE9D9B99B}" type="slidenum">
              <a:rPr lang="en-SG" smtClean="0"/>
              <a:t>22</a:t>
            </a:fld>
            <a:endParaRPr lang="en-SG"/>
          </a:p>
        </p:txBody>
      </p:sp>
    </p:spTree>
    <p:extLst>
      <p:ext uri="{BB962C8B-B14F-4D97-AF65-F5344CB8AC3E}">
        <p14:creationId xmlns:p14="http://schemas.microsoft.com/office/powerpoint/2010/main" val="316213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04E6480-3C54-450F-BA87-AC29E778069E}" type="datetimeFigureOut">
              <a:rPr lang="en-SG" smtClean="0"/>
              <a:t>12/4/2017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D768BCA-C68C-4A90-99D9-874D2106D54C}" type="slidenum">
              <a:rPr lang="en-SG" smtClean="0"/>
              <a:t>‹#›</a:t>
            </a:fld>
            <a:endParaRPr lang="en-SG"/>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44591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4E6480-3C54-450F-BA87-AC29E778069E}" type="datetimeFigureOut">
              <a:rPr lang="en-SG" smtClean="0"/>
              <a:t>12/4/2017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66398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4E6480-3C54-450F-BA87-AC29E778069E}" type="datetimeFigureOut">
              <a:rPr lang="en-SG" smtClean="0"/>
              <a:t>12/4/2017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D768BCA-C68C-4A90-99D9-874D2106D54C}" type="slidenum">
              <a:rPr lang="en-SG" smtClean="0"/>
              <a:t>‹#›</a:t>
            </a:fld>
            <a:endParaRPr lang="en-SG"/>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01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4E6480-3C54-450F-BA87-AC29E778069E}" type="datetimeFigureOut">
              <a:rPr lang="en-SG" smtClean="0"/>
              <a:t>12/4/2017</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374562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4E6480-3C54-450F-BA87-AC29E778069E}" type="datetimeFigureOut">
              <a:rPr lang="en-SG" smtClean="0"/>
              <a:t>12/4/2017</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535439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4E6480-3C54-450F-BA87-AC29E778069E}" type="datetimeFigureOut">
              <a:rPr lang="en-SG" smtClean="0"/>
              <a:t>12/4/2017</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3289779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E6480-3C54-450F-BA87-AC29E778069E}" type="datetimeFigureOut">
              <a:rPr lang="en-SG" smtClean="0"/>
              <a:t>12/4/2017</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123430349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4E6480-3C54-450F-BA87-AC29E778069E}" type="datetimeFigureOut">
              <a:rPr lang="en-SG" smtClean="0"/>
              <a:t>12/4/2017</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15616037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04E6480-3C54-450F-BA87-AC29E778069E}" type="datetimeFigureOut">
              <a:rPr lang="en-SG" smtClean="0"/>
              <a:t>12/4/2017</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D768BCA-C68C-4A90-99D9-874D2106D54C}" type="slidenum">
              <a:rPr lang="en-SG" smtClean="0"/>
              <a:t>‹#›</a:t>
            </a:fld>
            <a:endParaRPr lang="en-SG"/>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3480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4E6480-3C54-450F-BA87-AC29E778069E}" type="datetimeFigureOut">
              <a:rPr lang="en-SG" smtClean="0"/>
              <a:t>12/4/2017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D768BCA-C68C-4A90-99D9-874D2106D54C}" type="slidenum">
              <a:rPr lang="en-SG" smtClean="0"/>
              <a:t>‹#›</a:t>
            </a:fld>
            <a:endParaRPr lang="en-SG"/>
          </a:p>
        </p:txBody>
      </p:sp>
    </p:spTree>
    <p:extLst>
      <p:ext uri="{BB962C8B-B14F-4D97-AF65-F5344CB8AC3E}">
        <p14:creationId xmlns:p14="http://schemas.microsoft.com/office/powerpoint/2010/main" val="4251224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4E6480-3C54-450F-BA87-AC29E778069E}" type="datetimeFigureOut">
              <a:rPr lang="en-SG" smtClean="0"/>
              <a:t>12/4/2017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D768BCA-C68C-4A90-99D9-874D2106D54C}" type="slidenum">
              <a:rPr lang="en-SG" smtClean="0"/>
              <a:t>‹#›</a:t>
            </a:fld>
            <a:endParaRPr lang="en-SG"/>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59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04E6480-3C54-450F-BA87-AC29E778069E}" type="datetimeFigureOut">
              <a:rPr lang="en-SG" smtClean="0"/>
              <a:t>12/4/2017</a:t>
            </a:fld>
            <a:endParaRPr lang="en-SG"/>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SG"/>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D768BCA-C68C-4A90-99D9-874D2106D54C}" type="slidenum">
              <a:rPr lang="en-SG" smtClean="0"/>
              <a:t>‹#›</a:t>
            </a:fld>
            <a:endParaRPr lang="en-SG"/>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70026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2514" y="5090765"/>
            <a:ext cx="7772400" cy="1463040"/>
          </a:xfrm>
        </p:spPr>
        <p:txBody>
          <a:bodyPr/>
          <a:lstStyle/>
          <a:p>
            <a:r>
              <a:rPr lang="en-SG" dirty="0"/>
              <a:t>MTO reactor section</a:t>
            </a:r>
          </a:p>
        </p:txBody>
      </p:sp>
      <p:sp>
        <p:nvSpPr>
          <p:cNvPr id="3" name="Subtitle 2"/>
          <p:cNvSpPr>
            <a:spLocks noGrp="1"/>
          </p:cNvSpPr>
          <p:nvPr>
            <p:ph type="subTitle" idx="1"/>
          </p:nvPr>
        </p:nvSpPr>
        <p:spPr>
          <a:xfrm>
            <a:off x="8969828" y="4453133"/>
            <a:ext cx="3011501" cy="2404867"/>
          </a:xfrm>
        </p:spPr>
        <p:txBody>
          <a:bodyPr>
            <a:normAutofit/>
          </a:bodyPr>
          <a:lstStyle/>
          <a:p>
            <a:r>
              <a:rPr lang="en-SG" dirty="0"/>
              <a:t>Timothy Ng Tik Ti</a:t>
            </a:r>
          </a:p>
          <a:p>
            <a:r>
              <a:rPr lang="en-SG" dirty="0"/>
              <a:t>A0110716U</a:t>
            </a:r>
          </a:p>
          <a:p>
            <a:endParaRPr lang="en-SG" dirty="0"/>
          </a:p>
          <a:p>
            <a:r>
              <a:rPr lang="en-SG" dirty="0"/>
              <a:t>Team 10</a:t>
            </a:r>
          </a:p>
          <a:p>
            <a:r>
              <a:rPr lang="en-SG" dirty="0"/>
              <a:t>CN4123 Design Project</a:t>
            </a:r>
          </a:p>
        </p:txBody>
      </p:sp>
    </p:spTree>
    <p:extLst>
      <p:ext uri="{BB962C8B-B14F-4D97-AF65-F5344CB8AC3E}">
        <p14:creationId xmlns:p14="http://schemas.microsoft.com/office/powerpoint/2010/main" val="2450002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Scope of Presentation</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SG" dirty="0"/>
              <a:t>Overview of Complete Process</a:t>
            </a:r>
          </a:p>
          <a:p>
            <a:pPr>
              <a:buFont typeface="Wingdings" panose="05000000000000000000" pitchFamily="2" charset="2"/>
              <a:buChar char="v"/>
            </a:pPr>
            <a:r>
              <a:rPr lang="en-SG" dirty="0"/>
              <a:t>Methodology and Design of Reactor Unit</a:t>
            </a:r>
          </a:p>
          <a:p>
            <a:pPr>
              <a:buFont typeface="Wingdings" panose="05000000000000000000" pitchFamily="2" charset="2"/>
              <a:buChar char="v"/>
            </a:pPr>
            <a:r>
              <a:rPr lang="en-SG" dirty="0"/>
              <a:t>Process Development for the section</a:t>
            </a:r>
          </a:p>
        </p:txBody>
      </p:sp>
    </p:spTree>
    <p:extLst>
      <p:ext uri="{BB962C8B-B14F-4D97-AF65-F5344CB8AC3E}">
        <p14:creationId xmlns:p14="http://schemas.microsoft.com/office/powerpoint/2010/main" val="3826442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1001095" cy="1499616"/>
          </a:xfrm>
        </p:spPr>
        <p:txBody>
          <a:bodyPr/>
          <a:lstStyle/>
          <a:p>
            <a:r>
              <a:rPr lang="en-SG" dirty="0"/>
              <a:t>Overall Process and purpose of reactor section</a:t>
            </a:r>
          </a:p>
        </p:txBody>
      </p:sp>
      <p:pic>
        <p:nvPicPr>
          <p:cNvPr id="4" name="Picture 3"/>
          <p:cNvPicPr>
            <a:picLocks noChangeAspect="1"/>
          </p:cNvPicPr>
          <p:nvPr/>
        </p:nvPicPr>
        <p:blipFill>
          <a:blip r:embed="rId3"/>
          <a:stretch>
            <a:fillRect/>
          </a:stretch>
        </p:blipFill>
        <p:spPr>
          <a:xfrm>
            <a:off x="1437993" y="1711235"/>
            <a:ext cx="8892342" cy="4911634"/>
          </a:xfrm>
          <a:prstGeom prst="rect">
            <a:avLst/>
          </a:prstGeom>
        </p:spPr>
      </p:pic>
      <p:sp>
        <p:nvSpPr>
          <p:cNvPr id="3" name="Rectangle 2"/>
          <p:cNvSpPr/>
          <p:nvPr/>
        </p:nvSpPr>
        <p:spPr>
          <a:xfrm>
            <a:off x="1149531" y="1711235"/>
            <a:ext cx="3252652" cy="1828799"/>
          </a:xfrm>
          <a:prstGeom prst="rect">
            <a:avLst/>
          </a:prstGeom>
          <a:no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2296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Purpose of Reactor Section</a:t>
            </a:r>
          </a:p>
        </p:txBody>
      </p:sp>
      <p:sp>
        <p:nvSpPr>
          <p:cNvPr id="3" name="Content Placeholder 2"/>
          <p:cNvSpPr>
            <a:spLocks noGrp="1"/>
          </p:cNvSpPr>
          <p:nvPr>
            <p:ph idx="1"/>
          </p:nvPr>
        </p:nvSpPr>
        <p:spPr>
          <a:xfrm>
            <a:off x="838200" y="1825625"/>
            <a:ext cx="4718538" cy="4351338"/>
          </a:xfrm>
        </p:spPr>
        <p:txBody>
          <a:bodyPr/>
          <a:lstStyle/>
          <a:p>
            <a:pPr>
              <a:buFont typeface="Wingdings" panose="05000000000000000000" pitchFamily="2" charset="2"/>
              <a:buChar char="Ø"/>
            </a:pPr>
            <a:r>
              <a:rPr lang="en-SG" dirty="0"/>
              <a:t>To generate at least 800 </a:t>
            </a:r>
            <a:r>
              <a:rPr lang="en-SG" dirty="0" err="1"/>
              <a:t>kt</a:t>
            </a:r>
            <a:r>
              <a:rPr lang="en-SG" dirty="0"/>
              <a:t>/a light olefins using methanol using a solid catalyst</a:t>
            </a:r>
          </a:p>
          <a:p>
            <a:pPr>
              <a:buFont typeface="Wingdings" panose="05000000000000000000" pitchFamily="2" charset="2"/>
              <a:buChar char="Ø"/>
            </a:pPr>
            <a:r>
              <a:rPr lang="en-SG" dirty="0"/>
              <a:t>Ensure sufficient light olefins and butylene available for downstream processes to achieve specifications</a:t>
            </a:r>
          </a:p>
          <a:p>
            <a:endParaRPr lang="en-SG" dirty="0"/>
          </a:p>
        </p:txBody>
      </p:sp>
    </p:spTree>
    <p:extLst>
      <p:ext uri="{BB962C8B-B14F-4D97-AF65-F5344CB8AC3E}">
        <p14:creationId xmlns:p14="http://schemas.microsoft.com/office/powerpoint/2010/main" val="1543139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a:t>Methodology and Design of Fluidized Bed Reactor Unit</a:t>
            </a:r>
          </a:p>
        </p:txBody>
      </p:sp>
      <p:sp>
        <p:nvSpPr>
          <p:cNvPr id="4" name="Text Placeholder 3"/>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504080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06252"/>
            <a:ext cx="10515600" cy="1325563"/>
          </a:xfrm>
        </p:spPr>
        <p:txBody>
          <a:bodyPr/>
          <a:lstStyle/>
          <a:p>
            <a:r>
              <a:rPr lang="en-SG" dirty="0"/>
              <a:t>Kinetics</a:t>
            </a:r>
          </a:p>
        </p:txBody>
      </p:sp>
      <p:sp>
        <p:nvSpPr>
          <p:cNvPr id="7" name="Content Placeholder 6"/>
          <p:cNvSpPr>
            <a:spLocks noGrp="1"/>
          </p:cNvSpPr>
          <p:nvPr>
            <p:ph idx="1"/>
          </p:nvPr>
        </p:nvSpPr>
        <p:spPr>
          <a:xfrm>
            <a:off x="838200" y="1490247"/>
            <a:ext cx="4746674" cy="4351338"/>
          </a:xfrm>
        </p:spPr>
        <p:txBody>
          <a:bodyPr>
            <a:normAutofit/>
          </a:bodyPr>
          <a:lstStyle/>
          <a:p>
            <a:pPr>
              <a:buFont typeface="Wingdings" panose="05000000000000000000" pitchFamily="2" charset="2"/>
              <a:buChar char="Ø"/>
            </a:pPr>
            <a:r>
              <a:rPr lang="en-SG" dirty="0"/>
              <a:t>Utilized ZSM-5 kinetics obtained from </a:t>
            </a:r>
            <a:r>
              <a:rPr lang="en-SG" dirty="0" err="1"/>
              <a:t>Kaarsholm</a:t>
            </a:r>
            <a:r>
              <a:rPr lang="en-SG" dirty="0"/>
              <a:t> et al</a:t>
            </a:r>
          </a:p>
          <a:p>
            <a:pPr>
              <a:buFont typeface="Wingdings" panose="05000000000000000000" pitchFamily="2" charset="2"/>
              <a:buChar char="Ø"/>
            </a:pPr>
            <a:r>
              <a:rPr lang="en-SG" dirty="0"/>
              <a:t>Able to simulate overall trends of light olefins well</a:t>
            </a:r>
          </a:p>
          <a:p>
            <a:pPr>
              <a:buFont typeface="Wingdings" panose="05000000000000000000" pitchFamily="2" charset="2"/>
              <a:buChar char="Ø"/>
            </a:pPr>
            <a:r>
              <a:rPr lang="en-SG" dirty="0"/>
              <a:t>Accurate for 450 </a:t>
            </a:r>
            <a:r>
              <a:rPr lang="en-SG" baseline="30000" dirty="0" err="1"/>
              <a:t>o</a:t>
            </a:r>
            <a:r>
              <a:rPr lang="en-SG" dirty="0" err="1"/>
              <a:t>C</a:t>
            </a:r>
            <a:r>
              <a:rPr lang="en-SG" dirty="0"/>
              <a:t> to 550 </a:t>
            </a:r>
            <a:r>
              <a:rPr lang="en-SG" baseline="30000" dirty="0" err="1"/>
              <a:t>o</a:t>
            </a:r>
            <a:r>
              <a:rPr lang="en-SG" dirty="0" err="1"/>
              <a:t>C</a:t>
            </a:r>
            <a:endParaRPr lang="en-SG" dirty="0"/>
          </a:p>
          <a:p>
            <a:pPr>
              <a:buFont typeface="Wingdings" panose="05000000000000000000" pitchFamily="2" charset="2"/>
              <a:buChar char="Ø"/>
            </a:pPr>
            <a:r>
              <a:rPr lang="en-SG" dirty="0"/>
              <a:t>Poor in trends for </a:t>
            </a:r>
            <a:r>
              <a:rPr lang="en-SG" dirty="0" err="1"/>
              <a:t>paraffins</a:t>
            </a:r>
            <a:r>
              <a:rPr lang="en-SG" dirty="0"/>
              <a:t> and heavier olefins, and oxygenate conversion</a:t>
            </a:r>
          </a:p>
          <a:p>
            <a:pPr>
              <a:buFont typeface="Wingdings" panose="05000000000000000000" pitchFamily="2" charset="2"/>
              <a:buChar char="Ø"/>
            </a:pPr>
            <a:r>
              <a:rPr lang="en-SG" dirty="0"/>
              <a:t>Requires improvement in representing species concentration</a:t>
            </a:r>
          </a:p>
          <a:p>
            <a:pPr marL="0" indent="0">
              <a:buNone/>
            </a:pPr>
            <a:endParaRPr lang="en-SG" dirty="0"/>
          </a:p>
        </p:txBody>
      </p:sp>
      <p:pic>
        <p:nvPicPr>
          <p:cNvPr id="8" name="Picture 7"/>
          <p:cNvPicPr>
            <a:picLocks noChangeAspect="1"/>
          </p:cNvPicPr>
          <p:nvPr/>
        </p:nvPicPr>
        <p:blipFill>
          <a:blip r:embed="rId3"/>
          <a:stretch>
            <a:fillRect/>
          </a:stretch>
        </p:blipFill>
        <p:spPr>
          <a:xfrm>
            <a:off x="7729318" y="5748338"/>
            <a:ext cx="2781300" cy="857250"/>
          </a:xfrm>
          <a:prstGeom prst="rect">
            <a:avLst/>
          </a:prstGeom>
        </p:spPr>
      </p:pic>
      <p:pic>
        <p:nvPicPr>
          <p:cNvPr id="9" name="Picture 8"/>
          <p:cNvPicPr>
            <a:picLocks noChangeAspect="1"/>
          </p:cNvPicPr>
          <p:nvPr/>
        </p:nvPicPr>
        <p:blipFill>
          <a:blip r:embed="rId4"/>
          <a:stretch>
            <a:fillRect/>
          </a:stretch>
        </p:blipFill>
        <p:spPr>
          <a:xfrm>
            <a:off x="6894342" y="365125"/>
            <a:ext cx="4768948" cy="5276019"/>
          </a:xfrm>
          <a:prstGeom prst="rect">
            <a:avLst/>
          </a:prstGeom>
        </p:spPr>
      </p:pic>
    </p:spTree>
    <p:extLst>
      <p:ext uri="{BB962C8B-B14F-4D97-AF65-F5344CB8AC3E}">
        <p14:creationId xmlns:p14="http://schemas.microsoft.com/office/powerpoint/2010/main" val="337275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Modification to kinetics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SG" dirty="0"/>
              <a:t>Additional equation describing equilibrium</a:t>
            </a:r>
          </a:p>
          <a:p>
            <a:pPr>
              <a:buFont typeface="Wingdings" panose="05000000000000000000" pitchFamily="2" charset="2"/>
              <a:buChar char="Ø"/>
            </a:pPr>
            <a:r>
              <a:rPr lang="en-SG" dirty="0"/>
              <a:t>Rate constant of equation 15 was changed to 0.5, and equation 14 was removed entirely</a:t>
            </a:r>
          </a:p>
          <a:p>
            <a:pPr>
              <a:buFont typeface="Wingdings" panose="05000000000000000000" pitchFamily="2" charset="2"/>
              <a:buChar char="Ø"/>
            </a:pPr>
            <a:r>
              <a:rPr lang="en-SG" dirty="0"/>
              <a:t>Ethane and propane introduced manually</a:t>
            </a:r>
          </a:p>
        </p:txBody>
      </p:sp>
    </p:spTree>
    <p:extLst>
      <p:ext uri="{BB962C8B-B14F-4D97-AF65-F5344CB8AC3E}">
        <p14:creationId xmlns:p14="http://schemas.microsoft.com/office/powerpoint/2010/main" val="1763838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Bubbling Fluidized Bed Model</a:t>
            </a:r>
          </a:p>
        </p:txBody>
      </p:sp>
      <p:sp>
        <p:nvSpPr>
          <p:cNvPr id="3" name="Content Placeholder 2"/>
          <p:cNvSpPr>
            <a:spLocks noGrp="1"/>
          </p:cNvSpPr>
          <p:nvPr>
            <p:ph idx="1"/>
          </p:nvPr>
        </p:nvSpPr>
        <p:spPr>
          <a:xfrm>
            <a:off x="838200" y="1825625"/>
            <a:ext cx="5883714" cy="4351338"/>
          </a:xfrm>
        </p:spPr>
        <p:txBody>
          <a:bodyPr/>
          <a:lstStyle/>
          <a:p>
            <a:pPr>
              <a:buFont typeface="Wingdings" panose="05000000000000000000" pitchFamily="2" charset="2"/>
              <a:buChar char="Ø"/>
            </a:pPr>
            <a:r>
              <a:rPr lang="en-SG" dirty="0"/>
              <a:t>Obtained from </a:t>
            </a:r>
            <a:r>
              <a:rPr lang="en-SG" dirty="0" err="1"/>
              <a:t>Kaarsholm</a:t>
            </a:r>
            <a:r>
              <a:rPr lang="en-SG" dirty="0"/>
              <a:t> et al as well</a:t>
            </a:r>
          </a:p>
          <a:p>
            <a:pPr>
              <a:buFont typeface="Wingdings" panose="05000000000000000000" pitchFamily="2" charset="2"/>
              <a:buChar char="Ø"/>
            </a:pPr>
            <a:r>
              <a:rPr lang="en-SG" dirty="0"/>
              <a:t>Assumptions were made with regards to design equation</a:t>
            </a:r>
          </a:p>
          <a:p>
            <a:pPr>
              <a:buFont typeface="Wingdings" panose="05000000000000000000" pitchFamily="2" charset="2"/>
              <a:buChar char="Ø"/>
            </a:pPr>
            <a:r>
              <a:rPr lang="en-SG" dirty="0"/>
              <a:t>Additional assumptions were imposed in our code</a:t>
            </a:r>
          </a:p>
        </p:txBody>
      </p:sp>
      <p:pic>
        <p:nvPicPr>
          <p:cNvPr id="4" name="Picture 3"/>
          <p:cNvPicPr/>
          <p:nvPr/>
        </p:nvPicPr>
        <p:blipFill>
          <a:blip r:embed="rId3"/>
          <a:stretch>
            <a:fillRect/>
          </a:stretch>
        </p:blipFill>
        <p:spPr>
          <a:xfrm>
            <a:off x="7454118" y="1449937"/>
            <a:ext cx="3610122" cy="3618452"/>
          </a:xfrm>
          <a:prstGeom prst="rect">
            <a:avLst/>
          </a:prstGeom>
        </p:spPr>
      </p:pic>
      <p:pic>
        <p:nvPicPr>
          <p:cNvPr id="5" name="Picture 4"/>
          <p:cNvPicPr/>
          <p:nvPr/>
        </p:nvPicPr>
        <p:blipFill>
          <a:blip r:embed="rId4"/>
          <a:stretch>
            <a:fillRect/>
          </a:stretch>
        </p:blipFill>
        <p:spPr>
          <a:xfrm>
            <a:off x="1281234" y="4158849"/>
            <a:ext cx="5224069" cy="1863128"/>
          </a:xfrm>
          <a:prstGeom prst="rect">
            <a:avLst/>
          </a:prstGeom>
        </p:spPr>
      </p:pic>
    </p:spTree>
    <p:extLst>
      <p:ext uri="{BB962C8B-B14F-4D97-AF65-F5344CB8AC3E}">
        <p14:creationId xmlns:p14="http://schemas.microsoft.com/office/powerpoint/2010/main" val="1845023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Code methodology</a:t>
            </a:r>
          </a:p>
        </p:txBody>
      </p:sp>
      <p:pic>
        <p:nvPicPr>
          <p:cNvPr id="4" name="Picture 3"/>
          <p:cNvPicPr/>
          <p:nvPr/>
        </p:nvPicPr>
        <p:blipFill>
          <a:blip r:embed="rId3"/>
          <a:stretch>
            <a:fillRect/>
          </a:stretch>
        </p:blipFill>
        <p:spPr>
          <a:xfrm>
            <a:off x="1688123" y="1690688"/>
            <a:ext cx="8525021" cy="4794518"/>
          </a:xfrm>
          <a:prstGeom prst="rect">
            <a:avLst/>
          </a:prstGeom>
        </p:spPr>
      </p:pic>
    </p:spTree>
    <p:extLst>
      <p:ext uri="{BB962C8B-B14F-4D97-AF65-F5344CB8AC3E}">
        <p14:creationId xmlns:p14="http://schemas.microsoft.com/office/powerpoint/2010/main" val="4024640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a:t>Selection of Process Parameters</a:t>
            </a:r>
          </a:p>
        </p:txBody>
      </p:sp>
      <p:sp>
        <p:nvSpPr>
          <p:cNvPr id="5" name="Content Placeholder 4"/>
          <p:cNvSpPr>
            <a:spLocks noGrp="1"/>
          </p:cNvSpPr>
          <p:nvPr>
            <p:ph idx="1"/>
          </p:nvPr>
        </p:nvSpPr>
        <p:spPr/>
        <p:txBody>
          <a:bodyPr/>
          <a:lstStyle/>
          <a:p>
            <a:pPr>
              <a:buFont typeface="Wingdings" panose="05000000000000000000" pitchFamily="2" charset="2"/>
              <a:buChar char="Ø"/>
            </a:pPr>
            <a:r>
              <a:rPr lang="en-SG" dirty="0"/>
              <a:t>Should obtain more than 880 </a:t>
            </a:r>
            <a:r>
              <a:rPr lang="en-SG" dirty="0" err="1"/>
              <a:t>kt</a:t>
            </a:r>
            <a:r>
              <a:rPr lang="en-SG" dirty="0"/>
              <a:t>/a capacity</a:t>
            </a:r>
          </a:p>
          <a:p>
            <a:pPr>
              <a:buFont typeface="Wingdings" panose="05000000000000000000" pitchFamily="2" charset="2"/>
              <a:buChar char="Ø"/>
            </a:pPr>
            <a:r>
              <a:rPr lang="en-SG" dirty="0"/>
              <a:t>Maximize profit</a:t>
            </a:r>
          </a:p>
          <a:p>
            <a:pPr>
              <a:buFont typeface="Wingdings" panose="05000000000000000000" pitchFamily="2" charset="2"/>
              <a:buChar char="Ø"/>
            </a:pPr>
            <a:r>
              <a:rPr lang="en-SG" dirty="0"/>
              <a:t>Optimized temperature, pressure, WHSV with respect to section profitability</a:t>
            </a:r>
          </a:p>
          <a:p>
            <a:pPr>
              <a:buFont typeface="Wingdings" panose="05000000000000000000" pitchFamily="2" charset="2"/>
              <a:buChar char="Ø"/>
            </a:pPr>
            <a:r>
              <a:rPr lang="en-SG" dirty="0"/>
              <a:t>Catalyst parameters, temperature, pressure, weighted hourly space velocity (WHSV), feed rate, internal diameter and height of reactor</a:t>
            </a:r>
          </a:p>
          <a:p>
            <a:pPr>
              <a:buFont typeface="Wingdings" panose="05000000000000000000" pitchFamily="2" charset="2"/>
              <a:buChar char="Ø"/>
            </a:pPr>
            <a:endParaRPr lang="en-SG" dirty="0"/>
          </a:p>
        </p:txBody>
      </p:sp>
    </p:spTree>
    <p:extLst>
      <p:ext uri="{BB962C8B-B14F-4D97-AF65-F5344CB8AC3E}">
        <p14:creationId xmlns:p14="http://schemas.microsoft.com/office/powerpoint/2010/main" val="3445144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a:t>Optimized results of temperature, pressure and WHSV</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SG" dirty="0"/>
              <a:t>When temperature was increased from 450</a:t>
            </a:r>
            <a:r>
              <a:rPr lang="en-SG" baseline="30000" dirty="0"/>
              <a:t>o</a:t>
            </a:r>
            <a:r>
              <a:rPr lang="en-SG" dirty="0"/>
              <a:t>C to 550</a:t>
            </a:r>
            <a:r>
              <a:rPr lang="en-SG" baseline="30000" dirty="0"/>
              <a:t>o</a:t>
            </a:r>
            <a:r>
              <a:rPr lang="en-SG" dirty="0"/>
              <a:t>C, the capital and operating expenditures increased. However, profit margin increased due to increased plant capacity. 550</a:t>
            </a:r>
            <a:r>
              <a:rPr lang="en-SG" baseline="30000" dirty="0"/>
              <a:t>o</a:t>
            </a:r>
            <a:r>
              <a:rPr lang="en-SG" dirty="0"/>
              <a:t>C was chosen.</a:t>
            </a:r>
          </a:p>
          <a:p>
            <a:pPr>
              <a:buFont typeface="Wingdings" panose="05000000000000000000" pitchFamily="2" charset="2"/>
              <a:buChar char="Ø"/>
            </a:pPr>
            <a:r>
              <a:rPr lang="en-SG" dirty="0"/>
              <a:t>When pressure was increased from 1 </a:t>
            </a:r>
            <a:r>
              <a:rPr lang="en-SG" dirty="0" err="1"/>
              <a:t>atm</a:t>
            </a:r>
            <a:r>
              <a:rPr lang="en-SG" dirty="0"/>
              <a:t> to 30 </a:t>
            </a:r>
            <a:r>
              <a:rPr lang="en-SG" dirty="0" err="1"/>
              <a:t>atm</a:t>
            </a:r>
            <a:r>
              <a:rPr lang="en-SG" dirty="0"/>
              <a:t>, capital and operating </a:t>
            </a:r>
            <a:r>
              <a:rPr lang="en-SG" dirty="0" err="1"/>
              <a:t>expediture</a:t>
            </a:r>
            <a:r>
              <a:rPr lang="en-SG" dirty="0"/>
              <a:t> were found to decrease. Profit margin was found to increase despite lower plant capacity due to an increase in butene fraction. As such, 30 </a:t>
            </a:r>
            <a:r>
              <a:rPr lang="en-SG" dirty="0" err="1"/>
              <a:t>atm</a:t>
            </a:r>
            <a:r>
              <a:rPr lang="en-SG" dirty="0"/>
              <a:t> was chosen</a:t>
            </a:r>
          </a:p>
          <a:p>
            <a:pPr>
              <a:buFont typeface="Wingdings" panose="05000000000000000000" pitchFamily="2" charset="2"/>
              <a:buChar char="Ø"/>
            </a:pPr>
            <a:r>
              <a:rPr lang="en-SG" dirty="0"/>
              <a:t>Plant capacity was found to first increase sharply with increasing contact time initially, then decreases. The optimum plant capacity was found to occur at a WHSV of 134h</a:t>
            </a:r>
            <a:r>
              <a:rPr lang="en-SG" baseline="30000" dirty="0"/>
              <a:t>-1</a:t>
            </a:r>
            <a:endParaRPr lang="en-SG" dirty="0"/>
          </a:p>
        </p:txBody>
      </p:sp>
    </p:spTree>
    <p:extLst>
      <p:ext uri="{BB962C8B-B14F-4D97-AF65-F5344CB8AC3E}">
        <p14:creationId xmlns:p14="http://schemas.microsoft.com/office/powerpoint/2010/main" val="2251177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Obtaining Reactor Diameter and Height</a:t>
            </a:r>
          </a:p>
        </p:txBody>
      </p:sp>
      <p:sp>
        <p:nvSpPr>
          <p:cNvPr id="3" name="Content Placeholder 2"/>
          <p:cNvSpPr>
            <a:spLocks noGrp="1"/>
          </p:cNvSpPr>
          <p:nvPr>
            <p:ph idx="1"/>
          </p:nvPr>
        </p:nvSpPr>
        <p:spPr>
          <a:xfrm>
            <a:off x="838200" y="1825625"/>
            <a:ext cx="5084298" cy="4351338"/>
          </a:xfrm>
        </p:spPr>
        <p:txBody>
          <a:bodyPr>
            <a:normAutofit/>
          </a:bodyPr>
          <a:lstStyle/>
          <a:p>
            <a:pPr marL="0" indent="0">
              <a:buNone/>
            </a:pPr>
            <a:r>
              <a:rPr lang="en-SG" dirty="0">
                <a:solidFill>
                  <a:schemeClr val="accent1"/>
                </a:solidFill>
              </a:rPr>
              <a:t>Reactor Diameter</a:t>
            </a:r>
          </a:p>
          <a:p>
            <a:pPr marL="514350" indent="-514350">
              <a:buFont typeface="+mj-lt"/>
              <a:buAutoNum type="arabicPeriod"/>
            </a:pPr>
            <a:r>
              <a:rPr lang="en-SG" dirty="0"/>
              <a:t>Minimum fluidization velocity was first determined</a:t>
            </a:r>
          </a:p>
          <a:p>
            <a:pPr marL="514350" indent="-514350">
              <a:buFont typeface="+mj-lt"/>
              <a:buAutoNum type="arabicPeriod"/>
            </a:pPr>
            <a:r>
              <a:rPr lang="en-SG" dirty="0"/>
              <a:t>Design superficial velocity was set at 8.5 times minimum fluidization velocity</a:t>
            </a:r>
          </a:p>
          <a:p>
            <a:pPr marL="514350" indent="-514350">
              <a:buFont typeface="+mj-lt"/>
              <a:buAutoNum type="arabicPeriod"/>
            </a:pPr>
            <a:r>
              <a:rPr lang="en-SG" dirty="0"/>
              <a:t>Design superficial velocity was checked against terminal velocity of particles</a:t>
            </a:r>
          </a:p>
          <a:p>
            <a:pPr marL="514350" indent="-514350">
              <a:buFont typeface="+mj-lt"/>
              <a:buAutoNum type="arabicPeriod"/>
            </a:pPr>
            <a:r>
              <a:rPr lang="en-SG" dirty="0"/>
              <a:t>Feed volumetric flow rate was decided, and used to determine the area, and thus the diameter needed</a:t>
            </a:r>
          </a:p>
        </p:txBody>
      </p:sp>
      <p:sp>
        <p:nvSpPr>
          <p:cNvPr id="5" name="Content Placeholder 2"/>
          <p:cNvSpPr txBox="1">
            <a:spLocks/>
          </p:cNvSpPr>
          <p:nvPr/>
        </p:nvSpPr>
        <p:spPr>
          <a:xfrm>
            <a:off x="6491068" y="1825625"/>
            <a:ext cx="5084298"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dirty="0">
                <a:solidFill>
                  <a:schemeClr val="accent1"/>
                </a:solidFill>
              </a:rPr>
              <a:t>Reactor Height</a:t>
            </a:r>
          </a:p>
          <a:p>
            <a:pPr marL="514350" indent="-514350">
              <a:buFont typeface="+mj-lt"/>
              <a:buAutoNum type="arabicPeriod"/>
            </a:pPr>
            <a:r>
              <a:rPr lang="en-SG" dirty="0"/>
              <a:t>Bed volume at minimum fluidization was calculated using bed density and mass of catalyst required</a:t>
            </a:r>
          </a:p>
          <a:p>
            <a:pPr marL="514350" indent="-514350">
              <a:buFont typeface="+mj-lt"/>
              <a:buAutoNum type="arabicPeriod"/>
            </a:pPr>
            <a:r>
              <a:rPr lang="en-SG" dirty="0"/>
              <a:t>Using reactor diameter and bed volume, bed height was calculated</a:t>
            </a:r>
          </a:p>
          <a:p>
            <a:pPr marL="514350" indent="-514350">
              <a:buFont typeface="+mj-lt"/>
              <a:buAutoNum type="arabicPeriod"/>
            </a:pPr>
            <a:r>
              <a:rPr lang="en-SG" dirty="0"/>
              <a:t>Bed height was checked to ensure no slugging would occur</a:t>
            </a:r>
          </a:p>
          <a:p>
            <a:pPr marL="514350" indent="-514350">
              <a:buFont typeface="+mj-lt"/>
              <a:buAutoNum type="arabicPeriod"/>
            </a:pPr>
            <a:r>
              <a:rPr lang="en-SG" dirty="0"/>
              <a:t>Transport Disengagement Height (TDH) was calculated</a:t>
            </a:r>
          </a:p>
          <a:p>
            <a:pPr marL="514350" indent="-514350">
              <a:buFont typeface="+mj-lt"/>
              <a:buAutoNum type="arabicPeriod"/>
            </a:pPr>
            <a:r>
              <a:rPr lang="en-SG" dirty="0"/>
              <a:t>Additional allowance to height was added to make space for cyclones and feed distributor</a:t>
            </a:r>
          </a:p>
        </p:txBody>
      </p:sp>
    </p:spTree>
    <p:extLst>
      <p:ext uri="{BB962C8B-B14F-4D97-AF65-F5344CB8AC3E}">
        <p14:creationId xmlns:p14="http://schemas.microsoft.com/office/powerpoint/2010/main" val="2031172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Reactor Parameters</a:t>
            </a:r>
          </a:p>
        </p:txBody>
      </p:sp>
      <p:graphicFrame>
        <p:nvGraphicFramePr>
          <p:cNvPr id="4" name="Table 3"/>
          <p:cNvGraphicFramePr>
            <a:graphicFrameLocks noGrp="1"/>
          </p:cNvGraphicFramePr>
          <p:nvPr>
            <p:extLst>
              <p:ext uri="{D42A27DB-BD31-4B8C-83A1-F6EECF244321}">
                <p14:modId xmlns:p14="http://schemas.microsoft.com/office/powerpoint/2010/main" val="2184108092"/>
              </p:ext>
            </p:extLst>
          </p:nvPr>
        </p:nvGraphicFramePr>
        <p:xfrm>
          <a:off x="2476718" y="2084832"/>
          <a:ext cx="6814892" cy="4114800"/>
        </p:xfrm>
        <a:graphic>
          <a:graphicData uri="http://schemas.openxmlformats.org/drawingml/2006/table">
            <a:tbl>
              <a:tblPr firstRow="1" firstCol="1" bandRow="1">
                <a:tableStyleId>{5C22544A-7EE6-4342-B048-85BDC9FD1C3A}</a:tableStyleId>
              </a:tblPr>
              <a:tblGrid>
                <a:gridCol w="4683207">
                  <a:extLst>
                    <a:ext uri="{9D8B030D-6E8A-4147-A177-3AD203B41FA5}">
                      <a16:colId xmlns:a16="http://schemas.microsoft.com/office/drawing/2014/main" val="510965078"/>
                    </a:ext>
                  </a:extLst>
                </a:gridCol>
                <a:gridCol w="2131685">
                  <a:extLst>
                    <a:ext uri="{9D8B030D-6E8A-4147-A177-3AD203B41FA5}">
                      <a16:colId xmlns:a16="http://schemas.microsoft.com/office/drawing/2014/main" val="2452734265"/>
                    </a:ext>
                  </a:extLst>
                </a:gridCol>
              </a:tblGrid>
              <a:tr h="381359">
                <a:tc>
                  <a:txBody>
                    <a:bodyPr/>
                    <a:lstStyle/>
                    <a:p>
                      <a:pPr algn="l">
                        <a:lnSpc>
                          <a:spcPct val="150000"/>
                        </a:lnSpc>
                        <a:spcAft>
                          <a:spcPts val="0"/>
                        </a:spcAft>
                      </a:pPr>
                      <a:r>
                        <a:rPr lang="en-SG" sz="1800" dirty="0">
                          <a:effectLst/>
                        </a:rPr>
                        <a:t>Parameter</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solidFill>
                      <a:schemeClr val="accent2"/>
                    </a:solidFill>
                  </a:tcPr>
                </a:tc>
                <a:tc>
                  <a:txBody>
                    <a:bodyPr/>
                    <a:lstStyle/>
                    <a:p>
                      <a:pPr algn="l">
                        <a:lnSpc>
                          <a:spcPct val="150000"/>
                        </a:lnSpc>
                        <a:spcAft>
                          <a:spcPts val="0"/>
                        </a:spcAft>
                      </a:pPr>
                      <a:r>
                        <a:rPr lang="en-SG" sz="1800" dirty="0">
                          <a:effectLst/>
                        </a:rPr>
                        <a:t>Value</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solidFill>
                      <a:schemeClr val="accent2"/>
                    </a:solidFill>
                  </a:tcPr>
                </a:tc>
                <a:extLst>
                  <a:ext uri="{0D108BD9-81ED-4DB2-BD59-A6C34878D82A}">
                    <a16:rowId xmlns:a16="http://schemas.microsoft.com/office/drawing/2014/main" val="1909243177"/>
                  </a:ext>
                </a:extLst>
              </a:tr>
              <a:tr h="381359">
                <a:tc>
                  <a:txBody>
                    <a:bodyPr/>
                    <a:lstStyle/>
                    <a:p>
                      <a:pPr algn="l">
                        <a:lnSpc>
                          <a:spcPct val="150000"/>
                        </a:lnSpc>
                        <a:spcAft>
                          <a:spcPts val="0"/>
                        </a:spcAft>
                      </a:pPr>
                      <a:r>
                        <a:rPr lang="en-SG" sz="1800">
                          <a:effectLst/>
                        </a:rPr>
                        <a:t>Reactor Internal Diameter (m)</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a:effectLst/>
                        </a:rPr>
                        <a:t>9.915</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72277573"/>
                  </a:ext>
                </a:extLst>
              </a:tr>
              <a:tr h="381359">
                <a:tc>
                  <a:txBody>
                    <a:bodyPr/>
                    <a:lstStyle/>
                    <a:p>
                      <a:pPr algn="l">
                        <a:lnSpc>
                          <a:spcPct val="150000"/>
                        </a:lnSpc>
                        <a:spcAft>
                          <a:spcPts val="0"/>
                        </a:spcAft>
                      </a:pPr>
                      <a:r>
                        <a:rPr lang="en-SG" sz="1800" dirty="0">
                          <a:effectLst/>
                        </a:rPr>
                        <a:t>Reactor Height (m)</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dirty="0">
                          <a:effectLst/>
                        </a:rPr>
                        <a:t>5.849</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10484469"/>
                  </a:ext>
                </a:extLst>
              </a:tr>
              <a:tr h="381359">
                <a:tc>
                  <a:txBody>
                    <a:bodyPr/>
                    <a:lstStyle/>
                    <a:p>
                      <a:pPr algn="l">
                        <a:lnSpc>
                          <a:spcPct val="150000"/>
                        </a:lnSpc>
                        <a:spcAft>
                          <a:spcPts val="0"/>
                        </a:spcAft>
                      </a:pPr>
                      <a:r>
                        <a:rPr lang="en-SG" sz="1800">
                          <a:effectLst/>
                        </a:rPr>
                        <a:t>Bed Height at minimum fluidization (cm)</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dirty="0">
                          <a:effectLst/>
                        </a:rPr>
                        <a:t>5.13</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31205714"/>
                  </a:ext>
                </a:extLst>
              </a:tr>
              <a:tr h="381359">
                <a:tc>
                  <a:txBody>
                    <a:bodyPr/>
                    <a:lstStyle/>
                    <a:p>
                      <a:pPr algn="l">
                        <a:lnSpc>
                          <a:spcPct val="150000"/>
                        </a:lnSpc>
                        <a:spcAft>
                          <a:spcPts val="0"/>
                        </a:spcAft>
                      </a:pPr>
                      <a:r>
                        <a:rPr lang="en-SG" sz="1800">
                          <a:effectLst/>
                        </a:rPr>
                        <a:t>Methanol Feed Rate (kt/a)</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a:effectLst/>
                        </a:rPr>
                        <a:t>3161</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024206595"/>
                  </a:ext>
                </a:extLst>
              </a:tr>
              <a:tr h="381359">
                <a:tc>
                  <a:txBody>
                    <a:bodyPr/>
                    <a:lstStyle/>
                    <a:p>
                      <a:pPr algn="l">
                        <a:lnSpc>
                          <a:spcPct val="150000"/>
                        </a:lnSpc>
                        <a:spcAft>
                          <a:spcPts val="0"/>
                        </a:spcAft>
                      </a:pPr>
                      <a:r>
                        <a:rPr lang="en-SG" sz="1800">
                          <a:effectLst/>
                        </a:rPr>
                        <a:t>WHSV (h</a:t>
                      </a:r>
                      <a:r>
                        <a:rPr lang="en-SG" sz="1800" baseline="30000">
                          <a:effectLst/>
                        </a:rPr>
                        <a:t>-1</a:t>
                      </a:r>
                      <a:r>
                        <a:rPr lang="en-SG" sz="1800">
                          <a:effectLst/>
                        </a:rPr>
                        <a:t>)</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a:effectLst/>
                        </a:rPr>
                        <a:t>134</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283870493"/>
                  </a:ext>
                </a:extLst>
              </a:tr>
              <a:tr h="381359">
                <a:tc>
                  <a:txBody>
                    <a:bodyPr/>
                    <a:lstStyle/>
                    <a:p>
                      <a:pPr algn="l">
                        <a:lnSpc>
                          <a:spcPct val="150000"/>
                        </a:lnSpc>
                        <a:spcAft>
                          <a:spcPts val="0"/>
                        </a:spcAft>
                      </a:pPr>
                      <a:r>
                        <a:rPr lang="en-SG" sz="1800">
                          <a:effectLst/>
                        </a:rPr>
                        <a:t>Mass of Catalyst used (kg)</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a:effectLst/>
                        </a:rPr>
                        <a:t>2949</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16662957"/>
                  </a:ext>
                </a:extLst>
              </a:tr>
              <a:tr h="381359">
                <a:tc>
                  <a:txBody>
                    <a:bodyPr/>
                    <a:lstStyle/>
                    <a:p>
                      <a:pPr algn="l">
                        <a:lnSpc>
                          <a:spcPct val="150000"/>
                        </a:lnSpc>
                        <a:spcAft>
                          <a:spcPts val="0"/>
                        </a:spcAft>
                      </a:pPr>
                      <a:r>
                        <a:rPr lang="en-SG" sz="1800">
                          <a:effectLst/>
                        </a:rPr>
                        <a:t>Operating Pressure (atm)</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a:effectLst/>
                        </a:rPr>
                        <a:t>30</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548684488"/>
                  </a:ext>
                </a:extLst>
              </a:tr>
              <a:tr h="381359">
                <a:tc>
                  <a:txBody>
                    <a:bodyPr/>
                    <a:lstStyle/>
                    <a:p>
                      <a:pPr algn="l">
                        <a:lnSpc>
                          <a:spcPct val="150000"/>
                        </a:lnSpc>
                        <a:spcAft>
                          <a:spcPts val="0"/>
                        </a:spcAft>
                      </a:pPr>
                      <a:r>
                        <a:rPr lang="en-SG" sz="1800">
                          <a:effectLst/>
                        </a:rPr>
                        <a:t>Operating Temperature (</a:t>
                      </a:r>
                      <a:r>
                        <a:rPr lang="en-SG" sz="1800" baseline="30000">
                          <a:effectLst/>
                        </a:rPr>
                        <a:t>o</a:t>
                      </a:r>
                      <a:r>
                        <a:rPr lang="en-SG" sz="1800">
                          <a:effectLst/>
                        </a:rPr>
                        <a:t>C)</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a:effectLst/>
                        </a:rPr>
                        <a:t>550</a:t>
                      </a:r>
                      <a:endParaRPr lang="en-SG" sz="180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74180741"/>
                  </a:ext>
                </a:extLst>
              </a:tr>
              <a:tr h="381359">
                <a:tc>
                  <a:txBody>
                    <a:bodyPr/>
                    <a:lstStyle/>
                    <a:p>
                      <a:pPr algn="l">
                        <a:lnSpc>
                          <a:spcPct val="150000"/>
                        </a:lnSpc>
                        <a:spcAft>
                          <a:spcPts val="0"/>
                        </a:spcAft>
                      </a:pPr>
                      <a:r>
                        <a:rPr lang="en-SG" sz="1800" dirty="0">
                          <a:effectLst/>
                        </a:rPr>
                        <a:t>Plant Capacity (</a:t>
                      </a:r>
                      <a:r>
                        <a:rPr lang="en-SG" sz="1800" dirty="0" err="1">
                          <a:effectLst/>
                        </a:rPr>
                        <a:t>kt</a:t>
                      </a:r>
                      <a:r>
                        <a:rPr lang="en-SG" sz="1800" dirty="0">
                          <a:effectLst/>
                        </a:rPr>
                        <a:t>/a)</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tc>
                <a:tc>
                  <a:txBody>
                    <a:bodyPr/>
                    <a:lstStyle/>
                    <a:p>
                      <a:pPr algn="l">
                        <a:lnSpc>
                          <a:spcPct val="150000"/>
                        </a:lnSpc>
                        <a:spcAft>
                          <a:spcPts val="0"/>
                        </a:spcAft>
                      </a:pPr>
                      <a:r>
                        <a:rPr lang="en-SG" sz="1800" dirty="0">
                          <a:effectLst/>
                        </a:rPr>
                        <a:t>882.6</a:t>
                      </a:r>
                      <a:endParaRPr lang="en-SG" sz="1800" dirty="0">
                        <a:effectLst/>
                        <a:latin typeface="Calibri" panose="020F0502020204030204" pitchFamily="34"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634788211"/>
                  </a:ext>
                </a:extLst>
              </a:tr>
            </a:tbl>
          </a:graphicData>
        </a:graphic>
      </p:graphicFrame>
    </p:spTree>
    <p:extLst>
      <p:ext uri="{BB962C8B-B14F-4D97-AF65-F5344CB8AC3E}">
        <p14:creationId xmlns:p14="http://schemas.microsoft.com/office/powerpoint/2010/main" val="120050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t>Development of Section Configurations and Equipment Design Considerations</a:t>
            </a:r>
          </a:p>
        </p:txBody>
      </p:sp>
      <p:sp>
        <p:nvSpPr>
          <p:cNvPr id="3" name="Text Placeholder 2"/>
          <p:cNvSpPr>
            <a:spLocks noGrp="1"/>
          </p:cNvSpPr>
          <p:nvPr>
            <p:ph type="body" idx="1"/>
          </p:nvPr>
        </p:nvSpPr>
        <p:spPr/>
        <p:txBody>
          <a:bodyPr/>
          <a:lstStyle/>
          <a:p>
            <a:endParaRPr lang="en-SG"/>
          </a:p>
        </p:txBody>
      </p:sp>
    </p:spTree>
    <p:extLst>
      <p:ext uri="{BB962C8B-B14F-4D97-AF65-F5344CB8AC3E}">
        <p14:creationId xmlns:p14="http://schemas.microsoft.com/office/powerpoint/2010/main" val="1703614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Recycle configuration</a:t>
            </a:r>
          </a:p>
        </p:txBody>
      </p:sp>
      <p:sp>
        <p:nvSpPr>
          <p:cNvPr id="3" name="Content Placeholder 2"/>
          <p:cNvSpPr>
            <a:spLocks noGrp="1"/>
          </p:cNvSpPr>
          <p:nvPr>
            <p:ph idx="1"/>
          </p:nvPr>
        </p:nvSpPr>
        <p:spPr>
          <a:xfrm>
            <a:off x="838200" y="1825625"/>
            <a:ext cx="10515600" cy="2057058"/>
          </a:xfrm>
        </p:spPr>
        <p:txBody>
          <a:bodyPr>
            <a:normAutofit fontScale="92500"/>
          </a:bodyPr>
          <a:lstStyle/>
          <a:p>
            <a:r>
              <a:rPr lang="en-SG" dirty="0"/>
              <a:t>Component splitter is representative of all the purification and separation processes required to separate a pure stream of methanol and dimethyl ether from the reactor outlet stream</a:t>
            </a:r>
          </a:p>
          <a:p>
            <a:r>
              <a:rPr lang="en-SG" dirty="0"/>
              <a:t>Using the same operating parameters and the same reactor dimensions, a methanol conversion of </a:t>
            </a:r>
            <a:r>
              <a:rPr lang="en-SG" b="1" dirty="0"/>
              <a:t>98.2%</a:t>
            </a:r>
            <a:r>
              <a:rPr lang="en-SG" dirty="0"/>
              <a:t> and a plant capacity of </a:t>
            </a:r>
            <a:r>
              <a:rPr lang="en-SG" b="1" dirty="0"/>
              <a:t>882.6 </a:t>
            </a:r>
            <a:r>
              <a:rPr lang="en-SG" b="1" dirty="0" err="1"/>
              <a:t>kt</a:t>
            </a:r>
            <a:r>
              <a:rPr lang="en-SG" b="1" dirty="0"/>
              <a:t>/a</a:t>
            </a:r>
            <a:r>
              <a:rPr lang="en-SG" dirty="0"/>
              <a:t> were attained. This is in contrast with the 85.2% methanol conversion and a plant capacity of 739.5 </a:t>
            </a:r>
            <a:r>
              <a:rPr lang="en-SG" dirty="0" err="1"/>
              <a:t>kt</a:t>
            </a:r>
            <a:r>
              <a:rPr lang="en-SG" dirty="0"/>
              <a:t>/a obtained without the recycle stream.</a:t>
            </a:r>
          </a:p>
        </p:txBody>
      </p:sp>
      <p:pic>
        <p:nvPicPr>
          <p:cNvPr id="4" name="Picture 3"/>
          <p:cNvPicPr/>
          <p:nvPr/>
        </p:nvPicPr>
        <p:blipFill>
          <a:blip r:embed="rId3"/>
          <a:stretch>
            <a:fillRect/>
          </a:stretch>
        </p:blipFill>
        <p:spPr>
          <a:xfrm>
            <a:off x="2222695" y="4017620"/>
            <a:ext cx="7287065" cy="2447778"/>
          </a:xfrm>
          <a:prstGeom prst="rect">
            <a:avLst/>
          </a:prstGeom>
        </p:spPr>
      </p:pic>
    </p:spTree>
    <p:extLst>
      <p:ext uri="{BB962C8B-B14F-4D97-AF65-F5344CB8AC3E}">
        <p14:creationId xmlns:p14="http://schemas.microsoft.com/office/powerpoint/2010/main" val="224292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Regeneration of catalyst</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SG" dirty="0"/>
              <a:t>Hydrogen treating, proposed by </a:t>
            </a:r>
            <a:r>
              <a:rPr lang="en-SG" dirty="0" err="1"/>
              <a:t>Forbus</a:t>
            </a:r>
            <a:r>
              <a:rPr lang="en-SG" dirty="0"/>
              <a:t> et al.</a:t>
            </a:r>
          </a:p>
          <a:p>
            <a:pPr>
              <a:buFont typeface="Wingdings" panose="05000000000000000000" pitchFamily="2" charset="2"/>
              <a:buChar char="Ø"/>
            </a:pPr>
            <a:r>
              <a:rPr lang="en-SG" dirty="0"/>
              <a:t>Able to regenerate zeolite catalyst in situ, while the reactions are happening</a:t>
            </a:r>
          </a:p>
          <a:p>
            <a:pPr>
              <a:buFont typeface="Wingdings" panose="05000000000000000000" pitchFamily="2" charset="2"/>
              <a:buChar char="Ø"/>
            </a:pPr>
            <a:r>
              <a:rPr lang="en-SG" dirty="0"/>
              <a:t>Reduces capital cost</a:t>
            </a:r>
          </a:p>
          <a:p>
            <a:pPr>
              <a:buFont typeface="Wingdings" panose="05000000000000000000" pitchFamily="2" charset="2"/>
              <a:buChar char="Ø"/>
            </a:pPr>
            <a:r>
              <a:rPr lang="en-SG" dirty="0"/>
              <a:t>Longer lifespan of catalyst compared to traditional method of burning of coke in air in a separate regenerator</a:t>
            </a:r>
          </a:p>
          <a:p>
            <a:pPr>
              <a:buFont typeface="Wingdings" panose="05000000000000000000" pitchFamily="2" charset="2"/>
              <a:buChar char="Ø"/>
            </a:pPr>
            <a:r>
              <a:rPr lang="en-SG" dirty="0"/>
              <a:t>Need to elevate pressures to 35 </a:t>
            </a:r>
            <a:r>
              <a:rPr lang="en-SG" dirty="0" err="1"/>
              <a:t>atm</a:t>
            </a:r>
            <a:r>
              <a:rPr lang="en-SG" dirty="0"/>
              <a:t> at times to regenerate </a:t>
            </a:r>
          </a:p>
          <a:p>
            <a:pPr>
              <a:buFont typeface="Wingdings" panose="05000000000000000000" pitchFamily="2" charset="2"/>
              <a:buChar char="Ø"/>
            </a:pPr>
            <a:r>
              <a:rPr lang="en-SG" dirty="0"/>
              <a:t>Flow rate of hydrogen was found to be 98.47 </a:t>
            </a:r>
            <a:r>
              <a:rPr lang="en-SG" dirty="0" err="1"/>
              <a:t>kt</a:t>
            </a:r>
            <a:r>
              <a:rPr lang="en-SG" dirty="0"/>
              <a:t>/a</a:t>
            </a:r>
          </a:p>
        </p:txBody>
      </p:sp>
    </p:spTree>
    <p:extLst>
      <p:ext uri="{BB962C8B-B14F-4D97-AF65-F5344CB8AC3E}">
        <p14:creationId xmlns:p14="http://schemas.microsoft.com/office/powerpoint/2010/main" val="1234578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Reactor Design consideration</a:t>
            </a:r>
          </a:p>
        </p:txBody>
      </p:sp>
      <p:sp>
        <p:nvSpPr>
          <p:cNvPr id="3" name="Content Placeholder 2"/>
          <p:cNvSpPr>
            <a:spLocks noGrp="1"/>
          </p:cNvSpPr>
          <p:nvPr>
            <p:ph idx="1"/>
          </p:nvPr>
        </p:nvSpPr>
        <p:spPr>
          <a:xfrm>
            <a:off x="838200" y="1825625"/>
            <a:ext cx="3790071" cy="4351338"/>
          </a:xfrm>
        </p:spPr>
        <p:txBody>
          <a:bodyPr/>
          <a:lstStyle/>
          <a:p>
            <a:pPr marL="0" indent="0">
              <a:buNone/>
            </a:pPr>
            <a:r>
              <a:rPr lang="en-SG" dirty="0">
                <a:solidFill>
                  <a:schemeClr val="accent1"/>
                </a:solidFill>
              </a:rPr>
              <a:t>Reactor shell</a:t>
            </a:r>
          </a:p>
          <a:p>
            <a:pPr>
              <a:buFont typeface="Wingdings" panose="05000000000000000000" pitchFamily="2" charset="2"/>
              <a:buChar char="Ø"/>
            </a:pPr>
            <a:r>
              <a:rPr lang="en-SG" dirty="0"/>
              <a:t>Stainless steel grade 410</a:t>
            </a:r>
          </a:p>
          <a:p>
            <a:pPr>
              <a:buFont typeface="Wingdings" panose="05000000000000000000" pitchFamily="2" charset="2"/>
              <a:buChar char="Ø"/>
            </a:pPr>
            <a:r>
              <a:rPr lang="en-SG" dirty="0"/>
              <a:t>Thickness of 23.2 cm was calculated using Section VIII of the ASME Boiler and Pressure Vessel Code</a:t>
            </a:r>
          </a:p>
        </p:txBody>
      </p:sp>
      <p:pic>
        <p:nvPicPr>
          <p:cNvPr id="4" name="Picture 3"/>
          <p:cNvPicPr>
            <a:picLocks noChangeAspect="1"/>
          </p:cNvPicPr>
          <p:nvPr/>
        </p:nvPicPr>
        <p:blipFill>
          <a:blip r:embed="rId3"/>
          <a:stretch>
            <a:fillRect/>
          </a:stretch>
        </p:blipFill>
        <p:spPr>
          <a:xfrm>
            <a:off x="607942" y="4522239"/>
            <a:ext cx="4180701" cy="731569"/>
          </a:xfrm>
          <a:prstGeom prst="rect">
            <a:avLst/>
          </a:prstGeom>
        </p:spPr>
      </p:pic>
      <p:sp>
        <p:nvSpPr>
          <p:cNvPr id="5" name="Content Placeholder 2"/>
          <p:cNvSpPr txBox="1">
            <a:spLocks/>
          </p:cNvSpPr>
          <p:nvPr/>
        </p:nvSpPr>
        <p:spPr>
          <a:xfrm>
            <a:off x="5018902" y="1825625"/>
            <a:ext cx="3534256"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G" dirty="0">
                <a:solidFill>
                  <a:schemeClr val="accent1"/>
                </a:solidFill>
              </a:rPr>
              <a:t>Reactor auxiliary</a:t>
            </a:r>
          </a:p>
          <a:p>
            <a:pPr>
              <a:buFont typeface="Wingdings" panose="05000000000000000000" pitchFamily="2" charset="2"/>
              <a:buChar char="Ø"/>
            </a:pPr>
            <a:r>
              <a:rPr lang="en-SG" dirty="0"/>
              <a:t>8 cyclones of 6.835 m</a:t>
            </a:r>
            <a:r>
              <a:rPr lang="en-SG" baseline="30000" dirty="0"/>
              <a:t>3</a:t>
            </a:r>
            <a:r>
              <a:rPr lang="en-SG" dirty="0"/>
              <a:t> volume, placed above TDH</a:t>
            </a:r>
          </a:p>
          <a:p>
            <a:pPr>
              <a:buFont typeface="Wingdings" panose="05000000000000000000" pitchFamily="2" charset="2"/>
              <a:buChar char="Ø"/>
            </a:pPr>
            <a:r>
              <a:rPr lang="en-SG" dirty="0"/>
              <a:t>Cooling coil of 127300 kW duty, with surface area of 393.3 m</a:t>
            </a:r>
            <a:r>
              <a:rPr lang="en-SG" baseline="30000" dirty="0"/>
              <a:t>2</a:t>
            </a:r>
          </a:p>
          <a:p>
            <a:pPr>
              <a:buFont typeface="Wingdings" panose="05000000000000000000" pitchFamily="2" charset="2"/>
              <a:buChar char="Ø"/>
            </a:pPr>
            <a:r>
              <a:rPr lang="en-SG" dirty="0"/>
              <a:t>Porous plate distributor with 77220 orifices of size 5.525 mm needed</a:t>
            </a:r>
          </a:p>
        </p:txBody>
      </p:sp>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8553158" y="1378084"/>
            <a:ext cx="3418448" cy="4798879"/>
          </a:xfrm>
          <a:prstGeom prst="rect">
            <a:avLst/>
          </a:prstGeom>
          <a:noFill/>
          <a:ln>
            <a:noFill/>
          </a:ln>
        </p:spPr>
      </p:pic>
    </p:spTree>
    <p:extLst>
      <p:ext uri="{BB962C8B-B14F-4D97-AF65-F5344CB8AC3E}">
        <p14:creationId xmlns:p14="http://schemas.microsoft.com/office/powerpoint/2010/main" val="523615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Storage of feed</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SG" dirty="0"/>
              <a:t>Assumed shipment would arrive every 3 hours</a:t>
            </a:r>
          </a:p>
          <a:p>
            <a:pPr>
              <a:buFont typeface="Wingdings" panose="05000000000000000000" pitchFamily="2" charset="2"/>
              <a:buChar char="Ø"/>
            </a:pPr>
            <a:r>
              <a:rPr lang="en-SG" dirty="0"/>
              <a:t>Kept at 25 </a:t>
            </a:r>
            <a:r>
              <a:rPr lang="en-SG" baseline="30000" dirty="0" err="1"/>
              <a:t>o</a:t>
            </a:r>
            <a:r>
              <a:rPr lang="en-SG" dirty="0" err="1"/>
              <a:t>C</a:t>
            </a:r>
            <a:r>
              <a:rPr lang="en-SG" dirty="0"/>
              <a:t> and 1 </a:t>
            </a:r>
            <a:r>
              <a:rPr lang="en-SG" dirty="0" err="1"/>
              <a:t>atm</a:t>
            </a:r>
            <a:endParaRPr lang="en-SG" dirty="0"/>
          </a:p>
          <a:p>
            <a:pPr>
              <a:buFont typeface="Wingdings" panose="05000000000000000000" pitchFamily="2" charset="2"/>
              <a:buChar char="Ø"/>
            </a:pPr>
            <a:r>
              <a:rPr lang="en-SG" dirty="0"/>
              <a:t>Volume after accounting for expansion was decided to be 1550 m</a:t>
            </a:r>
            <a:r>
              <a:rPr lang="en-SG" baseline="30000" dirty="0"/>
              <a:t>3</a:t>
            </a:r>
            <a:endParaRPr lang="en-SG" dirty="0"/>
          </a:p>
          <a:p>
            <a:pPr>
              <a:buFont typeface="Wingdings" panose="05000000000000000000" pitchFamily="2" charset="2"/>
              <a:buChar char="Ø"/>
            </a:pPr>
            <a:r>
              <a:rPr lang="en-SG" dirty="0"/>
              <a:t>Stainless steel grade 410 closed tank with floating roof </a:t>
            </a:r>
          </a:p>
        </p:txBody>
      </p:sp>
    </p:spTree>
    <p:extLst>
      <p:ext uri="{BB962C8B-B14F-4D97-AF65-F5344CB8AC3E}">
        <p14:creationId xmlns:p14="http://schemas.microsoft.com/office/powerpoint/2010/main" val="1570588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Heating and pressurizing of feed</a:t>
            </a:r>
          </a:p>
        </p:txBody>
      </p:sp>
      <p:sp>
        <p:nvSpPr>
          <p:cNvPr id="3" name="Content Placeholder 2"/>
          <p:cNvSpPr>
            <a:spLocks noGrp="1"/>
          </p:cNvSpPr>
          <p:nvPr>
            <p:ph idx="1"/>
          </p:nvPr>
        </p:nvSpPr>
        <p:spPr>
          <a:xfrm>
            <a:off x="838200" y="1825625"/>
            <a:ext cx="5053149" cy="4351338"/>
          </a:xfrm>
        </p:spPr>
        <p:txBody>
          <a:bodyPr>
            <a:normAutofit/>
          </a:bodyPr>
          <a:lstStyle/>
          <a:p>
            <a:pPr marL="0" indent="0">
              <a:buNone/>
            </a:pPr>
            <a:r>
              <a:rPr lang="en-SG" dirty="0">
                <a:solidFill>
                  <a:schemeClr val="accent1"/>
                </a:solidFill>
              </a:rPr>
              <a:t>Preheating of feed</a:t>
            </a:r>
          </a:p>
          <a:p>
            <a:pPr>
              <a:buFont typeface="Wingdings" panose="05000000000000000000" pitchFamily="2" charset="2"/>
              <a:buChar char="Ø"/>
            </a:pPr>
            <a:r>
              <a:rPr lang="en-SG" dirty="0"/>
              <a:t>3 fired heaters would be used</a:t>
            </a:r>
          </a:p>
          <a:p>
            <a:pPr>
              <a:buFont typeface="Wingdings" panose="05000000000000000000" pitchFamily="2" charset="2"/>
              <a:buChar char="Ø"/>
            </a:pPr>
            <a:r>
              <a:rPr lang="en-SG" dirty="0"/>
              <a:t>One to heat feed from 25</a:t>
            </a:r>
            <a:r>
              <a:rPr lang="en-SG" baseline="30000" dirty="0"/>
              <a:t>o</a:t>
            </a:r>
            <a:r>
              <a:rPr lang="en-SG" dirty="0"/>
              <a:t>C to 172</a:t>
            </a:r>
            <a:r>
              <a:rPr lang="en-SG" baseline="30000" dirty="0"/>
              <a:t>o</a:t>
            </a:r>
            <a:r>
              <a:rPr lang="en-SG" dirty="0"/>
              <a:t>C, the boiling point of the feed mixture, the second would be to boil the feed, and the last one to heat the vapor from 172.2</a:t>
            </a:r>
            <a:r>
              <a:rPr lang="en-SG" baseline="30000" dirty="0"/>
              <a:t>o</a:t>
            </a:r>
            <a:r>
              <a:rPr lang="en-SG" dirty="0"/>
              <a:t>C to 550</a:t>
            </a:r>
            <a:r>
              <a:rPr lang="en-SG" baseline="30000" dirty="0"/>
              <a:t>o</a:t>
            </a:r>
            <a:r>
              <a:rPr lang="en-SG" dirty="0"/>
              <a:t>C</a:t>
            </a:r>
          </a:p>
          <a:p>
            <a:pPr>
              <a:buFont typeface="Wingdings" panose="05000000000000000000" pitchFamily="2" charset="2"/>
              <a:buChar char="Ø"/>
            </a:pPr>
            <a:r>
              <a:rPr lang="en-SG" dirty="0"/>
              <a:t>Fuel used was decided to be natural gas</a:t>
            </a:r>
          </a:p>
          <a:p>
            <a:pPr>
              <a:buFont typeface="Wingdings" panose="05000000000000000000" pitchFamily="2" charset="2"/>
              <a:buChar char="Ø"/>
            </a:pPr>
            <a:r>
              <a:rPr lang="en-SG" dirty="0"/>
              <a:t>The respective heat duties are found to be as follows: 64300 kW, 72300 kW and 104300 kW</a:t>
            </a:r>
          </a:p>
        </p:txBody>
      </p:sp>
      <p:sp>
        <p:nvSpPr>
          <p:cNvPr id="4" name="Content Placeholder 2"/>
          <p:cNvSpPr txBox="1">
            <a:spLocks/>
          </p:cNvSpPr>
          <p:nvPr/>
        </p:nvSpPr>
        <p:spPr>
          <a:xfrm>
            <a:off x="6096000" y="1825625"/>
            <a:ext cx="5053149"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G" dirty="0">
                <a:solidFill>
                  <a:schemeClr val="accent1"/>
                </a:solidFill>
              </a:rPr>
              <a:t>Pressurizing of feed</a:t>
            </a:r>
          </a:p>
          <a:p>
            <a:pPr>
              <a:buFont typeface="Wingdings" panose="05000000000000000000" pitchFamily="2" charset="2"/>
              <a:buChar char="Ø"/>
            </a:pPr>
            <a:r>
              <a:rPr lang="en-SG" dirty="0"/>
              <a:t>A pump would be used before the series of fired heaters</a:t>
            </a:r>
          </a:p>
          <a:p>
            <a:pPr>
              <a:buFont typeface="Wingdings" panose="05000000000000000000" pitchFamily="2" charset="2"/>
              <a:buChar char="Ø"/>
            </a:pPr>
            <a:r>
              <a:rPr lang="en-SG" dirty="0"/>
              <a:t>An oversized factor of 1.2 was used for a more conservative estimate of pump head, and to account for piping loss</a:t>
            </a:r>
          </a:p>
          <a:p>
            <a:pPr>
              <a:buFont typeface="Wingdings" panose="05000000000000000000" pitchFamily="2" charset="2"/>
              <a:buChar char="Ø"/>
            </a:pPr>
            <a:r>
              <a:rPr lang="en-SG" dirty="0"/>
              <a:t>The pump head was found to be 456.8m </a:t>
            </a:r>
          </a:p>
          <a:p>
            <a:pPr>
              <a:buFont typeface="Wingdings" panose="05000000000000000000" pitchFamily="2" charset="2"/>
              <a:buChar char="Ø"/>
            </a:pPr>
            <a:r>
              <a:rPr lang="en-SG" dirty="0"/>
              <a:t>Pump duty was found to be 656.4 kW</a:t>
            </a:r>
          </a:p>
        </p:txBody>
      </p:sp>
    </p:spTree>
    <p:extLst>
      <p:ext uri="{BB962C8B-B14F-4D97-AF65-F5344CB8AC3E}">
        <p14:creationId xmlns:p14="http://schemas.microsoft.com/office/powerpoint/2010/main" val="2874640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Reactor section configuration</a:t>
            </a:r>
          </a:p>
        </p:txBody>
      </p:sp>
      <p:pic>
        <p:nvPicPr>
          <p:cNvPr id="4" name="Picture 3"/>
          <p:cNvPicPr/>
          <p:nvPr/>
        </p:nvPicPr>
        <p:blipFill>
          <a:blip r:embed="rId2"/>
          <a:stretch>
            <a:fillRect/>
          </a:stretch>
        </p:blipFill>
        <p:spPr>
          <a:xfrm>
            <a:off x="1024128" y="1876141"/>
            <a:ext cx="9906469" cy="3727825"/>
          </a:xfrm>
          <a:prstGeom prst="rect">
            <a:avLst/>
          </a:prstGeom>
        </p:spPr>
      </p:pic>
    </p:spTree>
    <p:extLst>
      <p:ext uri="{BB962C8B-B14F-4D97-AF65-F5344CB8AC3E}">
        <p14:creationId xmlns:p14="http://schemas.microsoft.com/office/powerpoint/2010/main" val="2738360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SG" dirty="0"/>
              <a:t>THANK YOU</a:t>
            </a:r>
          </a:p>
        </p:txBody>
      </p:sp>
    </p:spTree>
    <p:extLst>
      <p:ext uri="{BB962C8B-B14F-4D97-AF65-F5344CB8AC3E}">
        <p14:creationId xmlns:p14="http://schemas.microsoft.com/office/powerpoint/2010/main" val="3783276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90843" y="182245"/>
            <a:ext cx="10762957" cy="746223"/>
          </a:xfrm>
        </p:spPr>
        <p:txBody>
          <a:bodyPr>
            <a:normAutofit fontScale="90000"/>
          </a:bodyPr>
          <a:lstStyle/>
          <a:p>
            <a:r>
              <a:rPr lang="en-SG" dirty="0"/>
              <a:t>APPENDIX: Methodology for optimizing temperature and pressure</a:t>
            </a:r>
          </a:p>
        </p:txBody>
      </p:sp>
      <p:sp>
        <p:nvSpPr>
          <p:cNvPr id="3" name="Content Placeholder 2"/>
          <p:cNvSpPr>
            <a:spLocks noGrp="1"/>
          </p:cNvSpPr>
          <p:nvPr>
            <p:ph idx="1"/>
          </p:nvPr>
        </p:nvSpPr>
        <p:spPr>
          <a:xfrm>
            <a:off x="478302" y="1280160"/>
            <a:ext cx="5683347" cy="5205046"/>
          </a:xfrm>
        </p:spPr>
        <p:txBody>
          <a:bodyPr>
            <a:normAutofit fontScale="62500" lnSpcReduction="20000"/>
          </a:bodyPr>
          <a:lstStyle/>
          <a:p>
            <a:pPr marL="266700" lvl="0" indent="-266700">
              <a:buFont typeface="+mj-lt"/>
              <a:buAutoNum type="arabicParenR"/>
            </a:pPr>
            <a:r>
              <a:rPr lang="en-SG" dirty="0"/>
              <a:t>The reactor was simulated using MATLAB for pressures between 1 </a:t>
            </a:r>
            <a:r>
              <a:rPr lang="en-SG" dirty="0" err="1"/>
              <a:t>atm</a:t>
            </a:r>
            <a:r>
              <a:rPr lang="en-SG" dirty="0"/>
              <a:t> to 30 </a:t>
            </a:r>
            <a:r>
              <a:rPr lang="en-SG" dirty="0" err="1"/>
              <a:t>atm</a:t>
            </a:r>
            <a:r>
              <a:rPr lang="en-SG" dirty="0"/>
              <a:t>, while fixing the feed flow rate at 3.73 </a:t>
            </a:r>
            <a:r>
              <a:rPr lang="en-SG" dirty="0" err="1"/>
              <a:t>kmol</a:t>
            </a:r>
            <a:r>
              <a:rPr lang="en-SG" dirty="0"/>
              <a:t>/s, temperature at 550</a:t>
            </a:r>
            <a:r>
              <a:rPr lang="en-SG" baseline="30000" dirty="0"/>
              <a:t>o</a:t>
            </a:r>
            <a:r>
              <a:rPr lang="en-SG" dirty="0"/>
              <a:t>C, and WHSV at 15.67 h</a:t>
            </a:r>
            <a:r>
              <a:rPr lang="en-SG" baseline="30000" dirty="0"/>
              <a:t>-1</a:t>
            </a:r>
            <a:r>
              <a:rPr lang="en-SG" dirty="0"/>
              <a:t> to obtain the flow rate and composition of product stream at each temperature point.</a:t>
            </a:r>
          </a:p>
          <a:p>
            <a:pPr marL="266700" lvl="0" indent="-266700">
              <a:buFont typeface="+mj-lt"/>
              <a:buAutoNum type="arabicParenR"/>
            </a:pPr>
            <a:r>
              <a:rPr lang="en-SG" dirty="0"/>
              <a:t>The feed pump, heater and the reactor were simulated with Aspen HYSYS by keying in the values obtained from MATLAB.</a:t>
            </a:r>
          </a:p>
          <a:p>
            <a:pPr marL="266700" lvl="0" indent="-266700">
              <a:buFont typeface="+mj-lt"/>
              <a:buAutoNum type="arabicParenR"/>
            </a:pPr>
            <a:r>
              <a:rPr lang="en-SG" dirty="0"/>
              <a:t>Feed heating duty and feed pump duty for each pressure point were then obtained from Aspen HYSYS. The feed heating duty was found to decrease with pressure while feed pump duty was found to increase.</a:t>
            </a:r>
          </a:p>
          <a:p>
            <a:pPr marL="266700" lvl="0" indent="-266700">
              <a:buFont typeface="+mj-lt"/>
              <a:buAutoNum type="arabicParenR"/>
            </a:pPr>
            <a:r>
              <a:rPr lang="en-SG" dirty="0"/>
              <a:t>The heating duty was assumed to be provided by a 100% thermal efficiency fired heater utilizing No. 2 Heating Oil, which has a heating duty of 9320 kcal/</a:t>
            </a:r>
            <a:r>
              <a:rPr lang="en-SG" dirty="0" err="1"/>
              <a:t>liter</a:t>
            </a:r>
            <a:r>
              <a:rPr lang="en-SG" dirty="0"/>
              <a:t> and a price of SG$ 0.986/</a:t>
            </a:r>
            <a:r>
              <a:rPr lang="en-SG" dirty="0" err="1"/>
              <a:t>liter</a:t>
            </a:r>
            <a:r>
              <a:rPr lang="en-SG" dirty="0"/>
              <a:t>.</a:t>
            </a:r>
          </a:p>
          <a:p>
            <a:pPr marL="266700" lvl="0" indent="-266700">
              <a:buFont typeface="+mj-lt"/>
              <a:buAutoNum type="arabicParenR"/>
            </a:pPr>
            <a:r>
              <a:rPr lang="en-SG" dirty="0"/>
              <a:t>The cost of feed heating duty was calculated for each pressure point.</a:t>
            </a:r>
          </a:p>
          <a:p>
            <a:pPr marL="266700" lvl="0" indent="-266700">
              <a:buFont typeface="+mj-lt"/>
              <a:buAutoNum type="arabicParenR"/>
            </a:pPr>
            <a:r>
              <a:rPr lang="en-SG" dirty="0"/>
              <a:t>The cost of feed pump duty was calculated for each pressure point using the electricity price of SG$ 6.222E-05/kJ.</a:t>
            </a:r>
          </a:p>
          <a:p>
            <a:pPr marL="266700" lvl="0" indent="-266700">
              <a:buFont typeface="+mj-lt"/>
              <a:buAutoNum type="arabicParenR"/>
            </a:pPr>
            <a:r>
              <a:rPr lang="en-SG" dirty="0"/>
              <a:t>The cost of feed heating duty and feed pump duty were assumed to be the only contributing component to utility cost, as cost of cooling the reactor was assumed to be provided by seawater and considered negligible.</a:t>
            </a:r>
          </a:p>
          <a:p>
            <a:pPr marL="266700" lvl="0" indent="-266700">
              <a:buFont typeface="+mj-lt"/>
              <a:buAutoNum type="arabicParenR"/>
            </a:pPr>
            <a:r>
              <a:rPr lang="en-SG" dirty="0"/>
              <a:t>Raw material cost, comprising of only methanol at the moment, was calculated using the price of SG$ 352.5/tonne.</a:t>
            </a:r>
          </a:p>
          <a:p>
            <a:pPr marL="266700" lvl="0" indent="-266700">
              <a:buFont typeface="+mj-lt"/>
              <a:buAutoNum type="arabicParenR"/>
            </a:pPr>
            <a:r>
              <a:rPr lang="en-SG" dirty="0"/>
              <a:t>The Operating Expenditure (OPEX) of the section was then assumed to consist of just the raw material cost and utility cost.</a:t>
            </a:r>
          </a:p>
          <a:p>
            <a:endParaRPr lang="en-SG" dirty="0"/>
          </a:p>
        </p:txBody>
      </p:sp>
      <p:sp>
        <p:nvSpPr>
          <p:cNvPr id="4" name="Content Placeholder 2"/>
          <p:cNvSpPr txBox="1">
            <a:spLocks/>
          </p:cNvSpPr>
          <p:nvPr/>
        </p:nvSpPr>
        <p:spPr>
          <a:xfrm>
            <a:off x="6161649" y="1280159"/>
            <a:ext cx="5866228" cy="5359791"/>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lvl="0" indent="-266700">
              <a:buFont typeface="+mj-lt"/>
              <a:buAutoNum type="arabicPeriod"/>
            </a:pPr>
            <a:r>
              <a:rPr lang="en-SG" dirty="0"/>
              <a:t>From the MATLAB simulation performed at each pressure point, the reactor dimensions were obtained. Reactor diameter was designed to decrease with increasing pressure to accommodate the expansion in inlet gas volume to maintain the same design superficial velocity U</a:t>
            </a:r>
            <a:r>
              <a:rPr lang="en-SG" baseline="-25000" dirty="0"/>
              <a:t>0</a:t>
            </a:r>
            <a:r>
              <a:rPr lang="en-SG" dirty="0"/>
              <a:t>, which is given by 8.5 times the </a:t>
            </a:r>
            <a:r>
              <a:rPr lang="en-SG" dirty="0" err="1"/>
              <a:t>U</a:t>
            </a:r>
            <a:r>
              <a:rPr lang="en-SG" baseline="-25000" dirty="0" err="1"/>
              <a:t>mf</a:t>
            </a:r>
            <a:r>
              <a:rPr lang="en-SG" dirty="0"/>
              <a:t> as mentioned previously. The bed height decreases naturally as the reactor tube area increases due to the mass and packing density of the catalyst being the same. </a:t>
            </a:r>
          </a:p>
          <a:p>
            <a:pPr marL="266700" lvl="0" indent="-266700">
              <a:buFont typeface="+mj-lt"/>
              <a:buAutoNum type="arabicPeriod"/>
            </a:pPr>
            <a:r>
              <a:rPr lang="en-SG" dirty="0"/>
              <a:t>Transport disengagement height (TDH) was calculated. Since the superficial velocity at the end of the bed was found to be approximately the same at 0.100 m/s throughout all the temperatures, the transport disengaging height is assumed to be the same, which was found to be 1.019 m.</a:t>
            </a:r>
          </a:p>
          <a:p>
            <a:pPr marL="266700" lvl="0" indent="-266700">
              <a:buFont typeface="+mj-lt"/>
              <a:buAutoNum type="arabicPeriod"/>
            </a:pPr>
            <a:r>
              <a:rPr lang="en-SG" dirty="0"/>
              <a:t>The height of the reactor was calculated, which we assumed to be simply the sum of the bed height and the transport disengagement height.</a:t>
            </a:r>
          </a:p>
          <a:p>
            <a:pPr marL="266700" lvl="0" indent="-266700">
              <a:buFont typeface="+mj-lt"/>
              <a:buAutoNum type="arabicPeriod"/>
            </a:pPr>
            <a:r>
              <a:rPr lang="en-SG" dirty="0"/>
              <a:t>The volume of the reactor was then calculated. At 1 </a:t>
            </a:r>
            <a:r>
              <a:rPr lang="en-SG" dirty="0" err="1"/>
              <a:t>atm</a:t>
            </a:r>
            <a:r>
              <a:rPr lang="en-SG" dirty="0"/>
              <a:t>, reactor volume is found to be huge at 2639 m</a:t>
            </a:r>
            <a:r>
              <a:rPr lang="en-SG" baseline="30000" dirty="0"/>
              <a:t>3</a:t>
            </a:r>
            <a:r>
              <a:rPr lang="en-SG" dirty="0"/>
              <a:t> compared to 123.7 m</a:t>
            </a:r>
            <a:r>
              <a:rPr lang="en-SG" baseline="30000" dirty="0"/>
              <a:t>3</a:t>
            </a:r>
            <a:r>
              <a:rPr lang="en-SG" dirty="0"/>
              <a:t> at 30 </a:t>
            </a:r>
            <a:r>
              <a:rPr lang="en-SG" dirty="0" err="1"/>
              <a:t>atm</a:t>
            </a:r>
            <a:r>
              <a:rPr lang="en-SG" dirty="0"/>
              <a:t> due to the huge reactor diameter.</a:t>
            </a:r>
          </a:p>
          <a:p>
            <a:pPr marL="266700" lvl="0" indent="-266700">
              <a:buFont typeface="+mj-lt"/>
              <a:buAutoNum type="arabicPeriod"/>
            </a:pPr>
            <a:r>
              <a:rPr lang="en-SG" dirty="0"/>
              <a:t> The module costing estimation proposed by Turton et al, was utilized to calculated the bare module cost of the reactor shell. Stainless steel grade 410 was assumed to be utilized for its high maximum temperature and corrosion resistance.</a:t>
            </a:r>
          </a:p>
          <a:p>
            <a:pPr marL="266700" lvl="0" indent="-266700">
              <a:buFont typeface="+mj-lt"/>
              <a:buAutoNum type="arabicPeriod"/>
            </a:pPr>
            <a:r>
              <a:rPr lang="en-SG" dirty="0"/>
              <a:t>Module costing of furnace and pump was performed by assuming a non-reactive fired heater and a positive displacement pump.</a:t>
            </a:r>
          </a:p>
          <a:p>
            <a:pPr marL="266700" lvl="0" indent="-266700">
              <a:buFont typeface="+mj-lt"/>
              <a:buAutoNum type="arabicPeriod"/>
            </a:pPr>
            <a:r>
              <a:rPr lang="en-SG" dirty="0"/>
              <a:t>The CAPEX was estimated, by assuming that the only contribution is from the bare module cost of the reactor shell, pump and furnace. CEPCI of 543 for year 2016 was considered. Cost for internals such as cooling coil, cyclone and distributor plate were not considered as a change in design temperature does not change their costing that much, and cost of catalyst was not considered in this section as well due to the WHSV being kept constant.</a:t>
            </a:r>
          </a:p>
          <a:p>
            <a:endParaRPr lang="en-SG" dirty="0"/>
          </a:p>
        </p:txBody>
      </p:sp>
    </p:spTree>
    <p:extLst>
      <p:ext uri="{BB962C8B-B14F-4D97-AF65-F5344CB8AC3E}">
        <p14:creationId xmlns:p14="http://schemas.microsoft.com/office/powerpoint/2010/main" val="8122988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TM02900720[[fn=Integral]]</Template>
  <TotalTime>2308</TotalTime>
  <Words>2626</Words>
  <Application>Microsoft Office PowerPoint</Application>
  <PresentationFormat>Widescreen</PresentationFormat>
  <Paragraphs>189</Paragraphs>
  <Slides>22</Slides>
  <Notes>16</Notes>
  <HiddenSlides>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DengXian</vt:lpstr>
      <vt:lpstr>Arial</vt:lpstr>
      <vt:lpstr>Calibri</vt:lpstr>
      <vt:lpstr>Times New Roman</vt:lpstr>
      <vt:lpstr>Tw Cen MT</vt:lpstr>
      <vt:lpstr>Tw Cen MT Condensed</vt:lpstr>
      <vt:lpstr>Wingdings</vt:lpstr>
      <vt:lpstr>Wingdings 3</vt:lpstr>
      <vt:lpstr>Integral</vt:lpstr>
      <vt:lpstr>MTO reactor section</vt:lpstr>
      <vt:lpstr>Scope of Presentation</vt:lpstr>
      <vt:lpstr>Overall Process and purpose of reactor section</vt:lpstr>
      <vt:lpstr>Purpose of Reactor Section</vt:lpstr>
      <vt:lpstr>Methodology and Design of Fluidized Bed Reactor Unit</vt:lpstr>
      <vt:lpstr>Kinetics</vt:lpstr>
      <vt:lpstr>Modification to kinetics</vt:lpstr>
      <vt:lpstr>Bubbling Fluidized Bed Model</vt:lpstr>
      <vt:lpstr>Code methodology</vt:lpstr>
      <vt:lpstr>Selection of Process Parameters</vt:lpstr>
      <vt:lpstr>Optimized results of temperature, pressure and WHSV</vt:lpstr>
      <vt:lpstr>Obtaining Reactor Diameter and Height</vt:lpstr>
      <vt:lpstr>Reactor Parameters</vt:lpstr>
      <vt:lpstr>Development of Section Configurations and Equipment Design Considerations</vt:lpstr>
      <vt:lpstr>Recycle configuration</vt:lpstr>
      <vt:lpstr>Regeneration of catalyst</vt:lpstr>
      <vt:lpstr>Reactor Design consideration</vt:lpstr>
      <vt:lpstr>Storage of feed</vt:lpstr>
      <vt:lpstr>Heating and pressurizing of feed</vt:lpstr>
      <vt:lpstr>Reactor section configuration</vt:lpstr>
      <vt:lpstr>THANK YOU</vt:lpstr>
      <vt:lpstr>APPENDIX: Methodology for optimizing temperature and pressure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MTO reactor section</dc:title>
  <dc:creator>Tiikyyy �</dc:creator>
  <cp:lastModifiedBy>Tiikyyy �</cp:lastModifiedBy>
  <cp:revision>128</cp:revision>
  <dcterms:created xsi:type="dcterms:W3CDTF">2017-03-25T06:58:23Z</dcterms:created>
  <dcterms:modified xsi:type="dcterms:W3CDTF">2017-04-12T17:13:40Z</dcterms:modified>
</cp:coreProperties>
</file>